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7559873" cy="10691961"/>
  <p:notesSz cx="10691961" cy="755987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59873" cy="816173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32000" y="324000"/>
            <a:ext cx="6695915" cy="276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勤務実績ダッシュボード 運用ガイド</a:t>
            </a:r>
            <a:pPr algn="l" indent="0" marL="0">
              <a:lnSpc>
                <a:spcPts val="2180"/>
              </a:lnSpc>
              <a:buNone/>
            </a:pPr>
            <a:r>
              <a:rPr lang="en-US" sz="84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</a:t>
            </a:r>
            <a:pPr algn="l" indent="0" marL="0">
              <a:lnSpc>
                <a:spcPts val="2180"/>
              </a:lnSpc>
              <a:buNone/>
            </a:pPr>
            <a:r>
              <a:rPr lang="en-US" sz="84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/ 2 毎月の作業と画面の見方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816173"/>
            <a:ext cx="7559873" cy="288727"/>
          </a:xfrm>
          <a:prstGeom prst="rect">
            <a:avLst/>
          </a:prstGeom>
          <a:solidFill>
            <a:srgbClr val="6B6F7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31959" y="888173"/>
            <a:ext cx="6695915" cy="1447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ＴＯＨＯシネマズ新宿 副支配人 笹川 晴央</a:t>
            </a:r>
            <a:endParaRPr lang="en-US" sz="730" dirty="0"/>
          </a:p>
        </p:txBody>
      </p:sp>
      <p:sp>
        <p:nvSpPr>
          <p:cNvPr id="6" name="Shape 4"/>
          <p:cNvSpPr/>
          <p:nvPr/>
        </p:nvSpPr>
        <p:spPr>
          <a:xfrm>
            <a:off x="431899" y="1284833"/>
            <a:ext cx="6696075" cy="488752"/>
          </a:xfrm>
          <a:prstGeom prst="rect">
            <a:avLst/>
          </a:prstGeom>
          <a:solidFill>
            <a:srgbClr val="E8EDF3"/>
          </a:solidFill>
          <a:ln w="10160">
            <a:solidFill>
              <a:srgbClr val="C8D2D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5424" y="1384358"/>
            <a:ext cx="6542491" cy="289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73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目的</a:t>
            </a:r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シェアフルシフトのシフトCSVを月1回貼るだけで、スタッフごとの出勤日数・出勤率・当欠率（当日に休みへ変更した割合）・勤務時間を</a:t>
            </a:r>
            <a:pPr algn="l" indent="0" marL="0">
              <a:lnSpc>
                <a:spcPts val="1140"/>
              </a:lnSpc>
              <a:buNone/>
            </a:pPr>
            <a:r>
              <a:rPr lang="en-US" sz="73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半年分</a:t>
            </a:r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まとめて表示します。契約更新の面談で「あなたの実績はこうだから、この評価です」を数字と図で示し、本人の納得感につなげるためのツールです。</a:t>
            </a:r>
            <a:endParaRPr lang="en-US" sz="730" dirty="0"/>
          </a:p>
        </p:txBody>
      </p:sp>
      <p:sp>
        <p:nvSpPr>
          <p:cNvPr id="8" name="Text 6"/>
          <p:cNvSpPr txBox="1"/>
          <p:nvPr/>
        </p:nvSpPr>
        <p:spPr>
          <a:xfrm>
            <a:off x="431899" y="1917502"/>
            <a:ext cx="6696075" cy="1794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0"/>
              </a:lnSpc>
              <a:buNone/>
            </a:pPr>
            <a:r>
              <a:rPr lang="en-US" sz="91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■ </a:t>
            </a:r>
            <a:pPr algn="l" indent="0" marL="0">
              <a:lnSpc>
                <a:spcPts val="1410"/>
              </a:lnSpc>
              <a:buNone/>
            </a:pPr>
            <a:r>
              <a:rPr lang="en-US" sz="91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毎月の流れ </a:t>
            </a:r>
            <a:pPr algn="l" indent="0" marL="0">
              <a:lnSpc>
                <a:spcPts val="1410"/>
              </a:lnSpc>
              <a:buNone/>
            </a:pPr>
            <a:r>
              <a:rPr lang="en-US" sz="77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― 3ステップ。慣れれば5分</a:t>
            </a:r>
            <a:endParaRPr lang="en-US" sz="910" dirty="0"/>
          </a:p>
        </p:txBody>
      </p:sp>
      <p:sp>
        <p:nvSpPr>
          <p:cNvPr id="9" name="Shape 7"/>
          <p:cNvSpPr/>
          <p:nvPr/>
        </p:nvSpPr>
        <p:spPr>
          <a:xfrm>
            <a:off x="431899" y="2151757"/>
            <a:ext cx="507802" cy="170855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98574" y="2161282"/>
            <a:ext cx="6629340" cy="151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7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1</a:t>
            </a:r>
            <a:endParaRPr lang="en-US" sz="770" dirty="0"/>
          </a:p>
        </p:txBody>
      </p:sp>
      <p:sp>
        <p:nvSpPr>
          <p:cNvPr id="11" name="Text 9"/>
          <p:cNvSpPr txBox="1"/>
          <p:nvPr/>
        </p:nvSpPr>
        <p:spPr>
          <a:xfrm>
            <a:off x="1015901" y="2150864"/>
            <a:ext cx="6112014" cy="172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0"/>
              </a:lnSpc>
              <a:buNone/>
            </a:pPr>
            <a:r>
              <a:rPr lang="en-US" sz="870" b="1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CSVを貼る</a:t>
            </a:r>
            <a:endParaRPr lang="en-US" sz="870" dirty="0"/>
          </a:p>
        </p:txBody>
      </p:sp>
      <p:sp>
        <p:nvSpPr>
          <p:cNvPr id="12" name="Text 10"/>
          <p:cNvSpPr txBox="1"/>
          <p:nvPr/>
        </p:nvSpPr>
        <p:spPr>
          <a:xfrm>
            <a:off x="431899" y="2378422"/>
            <a:ext cx="2238741" cy="675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シェアフルシフトから前月1ヶ月分（月初〜月末）のシフトCSVを出力し、Excelで開く。</a:t>
            </a:r>
            <a:pPr algn="l" indent="0" marL="0">
              <a:lnSpc>
                <a:spcPts val="1140"/>
              </a:lnSpc>
              <a:buNone/>
            </a:pPr>
            <a:r>
              <a:rPr lang="en-US" sz="730" b="1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全選択コピー（Ctrl+A → Ctrl+C）</a:t>
            </a:r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して、その月の「CSV_○」シートの</a:t>
            </a:r>
            <a:pPr algn="l" indent="0" marL="0">
              <a:lnSpc>
                <a:spcPts val="1140"/>
              </a:lnSpc>
              <a:buNone/>
            </a:pPr>
            <a:r>
              <a:rPr lang="en-US" sz="730" b="1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A1セル</a:t>
            </a:r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へ貼付。</a:t>
            </a:r>
            <a:pPr algn="l" indent="0" marL="0">
              <a:lnSpc>
                <a:spcPts val="1140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ヘッダー行ごと貼ります。1ヶ月目はCSV_1、2ヶ月目はCSV_2…と古い月から順に。</a:t>
            </a:r>
            <a:endParaRPr lang="en-US" sz="730" dirty="0"/>
          </a:p>
        </p:txBody>
      </p:sp>
      <p:sp>
        <p:nvSpPr>
          <p:cNvPr id="13" name="Shape 11"/>
          <p:cNvSpPr/>
          <p:nvPr/>
        </p:nvSpPr>
        <p:spPr>
          <a:xfrm>
            <a:off x="2723852" y="2151757"/>
            <a:ext cx="507802" cy="170855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790527" y="2161282"/>
            <a:ext cx="4337387" cy="151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7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2</a:t>
            </a:r>
            <a:endParaRPr lang="en-US" sz="770" dirty="0"/>
          </a:p>
        </p:txBody>
      </p:sp>
      <p:sp>
        <p:nvSpPr>
          <p:cNvPr id="15" name="Text 13"/>
          <p:cNvSpPr txBox="1"/>
          <p:nvPr/>
        </p:nvSpPr>
        <p:spPr>
          <a:xfrm>
            <a:off x="3307854" y="2150864"/>
            <a:ext cx="3820061" cy="172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0"/>
              </a:lnSpc>
              <a:buNone/>
            </a:pPr>
            <a:r>
              <a:rPr lang="en-US" sz="870" b="1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貼付状況を確認</a:t>
            </a:r>
            <a:endParaRPr lang="en-US" sz="870" dirty="0"/>
          </a:p>
        </p:txBody>
      </p:sp>
      <p:sp>
        <p:nvSpPr>
          <p:cNvPr id="16" name="Text 14"/>
          <p:cNvSpPr txBox="1"/>
          <p:nvPr/>
        </p:nvSpPr>
        <p:spPr>
          <a:xfrm>
            <a:off x="2723852" y="2378422"/>
            <a:ext cx="2238741" cy="530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「使い方」シートの</a:t>
            </a:r>
            <a:pPr algn="l" indent="0" marL="0">
              <a:lnSpc>
                <a:spcPts val="1140"/>
              </a:lnSpc>
              <a:buNone/>
            </a:pPr>
            <a:r>
              <a:rPr lang="en-US" sz="730" b="1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貼付状況</a:t>
            </a:r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に「2026年8月／OK」と出ればOK。</a:t>
            </a:r>
            <a:pPr algn="l" indent="0" marL="0">
              <a:lnSpc>
                <a:spcPts val="1140"/>
              </a:lnSpc>
              <a:buNone/>
            </a:pPr>
            <a:r>
              <a:rPr lang="en-US" sz="73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「※」が出たら</a:t>
            </a:r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初回セットアップガイド2ページ目の表で対処。</a:t>
            </a:r>
            <a:pPr algn="l" indent="0" marL="0">
              <a:lnSpc>
                <a:spcPts val="1140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貼り直すときは、そのシートを全選択→Deleteしてから貼り付け。</a:t>
            </a:r>
            <a:endParaRPr lang="en-US" sz="730" dirty="0"/>
          </a:p>
        </p:txBody>
      </p:sp>
      <p:sp>
        <p:nvSpPr>
          <p:cNvPr id="17" name="Shape 15"/>
          <p:cNvSpPr/>
          <p:nvPr/>
        </p:nvSpPr>
        <p:spPr>
          <a:xfrm>
            <a:off x="5015805" y="2151757"/>
            <a:ext cx="507802" cy="170855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082480" y="2161282"/>
            <a:ext cx="2045434" cy="151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7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3</a:t>
            </a:r>
            <a:endParaRPr lang="en-US" sz="770" dirty="0"/>
          </a:p>
        </p:txBody>
      </p:sp>
      <p:sp>
        <p:nvSpPr>
          <p:cNvPr id="19" name="Text 17"/>
          <p:cNvSpPr txBox="1"/>
          <p:nvPr/>
        </p:nvSpPr>
        <p:spPr>
          <a:xfrm>
            <a:off x="5599807" y="2150864"/>
            <a:ext cx="1528108" cy="172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0"/>
              </a:lnSpc>
              <a:buNone/>
            </a:pPr>
            <a:r>
              <a:rPr lang="en-US" sz="870" b="1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選んで印刷</a:t>
            </a:r>
            <a:endParaRPr lang="en-US" sz="870" dirty="0"/>
          </a:p>
        </p:txBody>
      </p:sp>
      <p:sp>
        <p:nvSpPr>
          <p:cNvPr id="20" name="Text 18"/>
          <p:cNvSpPr txBox="1"/>
          <p:nvPr/>
        </p:nvSpPr>
        <p:spPr>
          <a:xfrm>
            <a:off x="5015805" y="2378422"/>
            <a:ext cx="2112109" cy="965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「ダッシュボード」でスタッフ名を選ぶ。人数が多いときは</a:t>
            </a:r>
            <a:pPr algn="l" indent="0" marL="0">
              <a:lnSpc>
                <a:spcPts val="1140"/>
              </a:lnSpc>
              <a:buNone/>
            </a:pPr>
            <a:r>
              <a:rPr lang="en-US" sz="730" b="1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黄色い「絞り込み」欄</a:t>
            </a:r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に名前や従業員番号の一部を入れると▼の候補が絞られます（欄の右に一致人数）。数字とグラフがその場で切り替わるので、</a:t>
            </a:r>
            <a:pPr algn="l" indent="0" marL="0">
              <a:lnSpc>
                <a:spcPts val="1140"/>
              </a:lnSpc>
              <a:buNone/>
            </a:pPr>
            <a:r>
              <a:rPr lang="en-US" sz="730" b="1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そのままA4縦1枚</a:t>
            </a:r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で印刷して面談へ。</a:t>
            </a:r>
            <a:pPr algn="l" indent="0" marL="0">
              <a:lnSpc>
                <a:spcPts val="1140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PDFにするときも同じシートで ファイル → エクスポート → PDF/XPS。</a:t>
            </a:r>
            <a:endParaRPr lang="en-US" sz="73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1899" y="3463975"/>
          <a:ext cx="2757488" cy="914400"/>
        </p:xfrm>
        <a:graphic>
          <a:graphicData uri="http://schemas.openxmlformats.org/drawingml/2006/table">
            <a:tbl>
              <a:tblPr/>
              <a:tblGrid>
                <a:gridCol w="146893"/>
                <a:gridCol w="746373"/>
                <a:gridCol w="452884"/>
                <a:gridCol w="757833"/>
                <a:gridCol w="452884"/>
                <a:gridCol w="191095"/>
              </a:tblGrid>
              <a:tr h="169962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920"/>
                        </a:lnSpc>
                        <a:buNone/>
                      </a:pP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3200" marR="43200" marT="21600" marB="21600" anchor="t">
                    <a:lnL w="1016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920"/>
                        </a:lnSpc>
                        <a:buNone/>
                      </a:pPr>
                      <a:r>
                        <a:rPr lang="en-US" sz="520" dirty="0">
                          <a:solidFill>
                            <a:srgbClr val="66666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3200" marR="43200" marT="21600" marB="21600" anchor="t">
                    <a:lnL w="1016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920"/>
                        </a:lnSpc>
                        <a:buNone/>
                      </a:pPr>
                      <a:r>
                        <a:rPr lang="en-US" sz="520" dirty="0">
                          <a:solidFill>
                            <a:srgbClr val="66666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3200" marR="43200" marT="21600" marB="21600" anchor="t">
                    <a:lnL w="1016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920"/>
                        </a:lnSpc>
                        <a:buNone/>
                      </a:pPr>
                      <a:r>
                        <a:rPr lang="en-US" sz="520" dirty="0">
                          <a:solidFill>
                            <a:srgbClr val="66666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C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3200" marR="43200" marT="21600" marB="21600" anchor="t">
                    <a:lnL w="1016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920"/>
                        </a:lnSpc>
                        <a:buNone/>
                      </a:pPr>
                      <a:r>
                        <a:rPr lang="en-US" sz="520" dirty="0">
                          <a:solidFill>
                            <a:srgbClr val="66666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D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3200" marR="43200" marT="21600" marB="21600" anchor="t">
                    <a:lnL w="1016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920"/>
                        </a:lnSpc>
                        <a:buNone/>
                      </a:pPr>
                      <a:r>
                        <a:rPr lang="en-US" sz="520" dirty="0">
                          <a:solidFill>
                            <a:srgbClr val="66666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…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3200" marR="43200" marT="21600" marB="21600" anchor="t">
                    <a:lnL w="1016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0"/>
                    </a:solidFill>
                  </a:tcPr>
                </a:tc>
              </a:tr>
              <a:tr h="169962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920"/>
                        </a:lnSpc>
                        <a:buNone/>
                      </a:pPr>
                      <a:r>
                        <a:rPr lang="en-US" sz="520" dirty="0">
                          <a:solidFill>
                            <a:srgbClr val="66666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3200" marR="43200" marT="21600" marB="21600" anchor="t">
                    <a:lnL w="1016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920"/>
                        </a:lnSpc>
                        <a:buNone/>
                      </a:pPr>
                      <a:r>
                        <a:rPr lang="en-US" sz="520" dirty="0">
                          <a:solidFill>
                            <a:srgbClr val="22222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募集シフトの日付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3200" marR="43200" marT="21600" marB="21600" anchor="t">
                    <a:lnL w="19050" cap="flat" cmpd="sng" algn="ctr">
                      <a:solidFill>
                        <a:srgbClr val="E39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E39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39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39A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920"/>
                        </a:lnSpc>
                        <a:buNone/>
                      </a:pPr>
                      <a:r>
                        <a:rPr lang="en-US" sz="520" dirty="0">
                          <a:solidFill>
                            <a:srgbClr val="22222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募集店舗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3200" marR="43200" marT="21600" marB="21600" anchor="t">
                    <a:lnL w="1016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920"/>
                        </a:lnSpc>
                        <a:buNone/>
                      </a:pPr>
                      <a:r>
                        <a:rPr lang="en-US" sz="520" dirty="0">
                          <a:solidFill>
                            <a:srgbClr val="22222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応募ステータス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3200" marR="43200" marT="21600" marB="21600" anchor="t">
                    <a:lnL w="1016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920"/>
                        </a:lnSpc>
                        <a:buNone/>
                      </a:pPr>
                      <a:r>
                        <a:rPr lang="en-US" sz="520" dirty="0">
                          <a:solidFill>
                            <a:srgbClr val="22222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開始時間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3200" marR="43200" marT="21600" marB="21600" anchor="t">
                    <a:lnL w="1016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920"/>
                        </a:lnSpc>
                        <a:buNone/>
                      </a:pPr>
                      <a:r>
                        <a:rPr lang="en-US" sz="520" dirty="0">
                          <a:solidFill>
                            <a:srgbClr val="22222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…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3200" marR="43200" marT="21600" marB="21600" anchor="t">
                    <a:lnL w="1016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9962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920"/>
                        </a:lnSpc>
                        <a:buNone/>
                      </a:pPr>
                      <a:r>
                        <a:rPr lang="en-US" sz="520" dirty="0">
                          <a:solidFill>
                            <a:srgbClr val="66666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3200" marR="43200" marT="21600" marB="21600" anchor="t">
                    <a:lnL w="1016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920"/>
                        </a:lnSpc>
                        <a:buNone/>
                      </a:pPr>
                      <a:r>
                        <a:rPr lang="en-US" sz="520" dirty="0">
                          <a:solidFill>
                            <a:srgbClr val="22222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2026/08/01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3200" marR="43200" marT="21600" marB="21600" anchor="t">
                    <a:lnL w="1016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920"/>
                        </a:lnSpc>
                        <a:buNone/>
                      </a:pPr>
                      <a:r>
                        <a:rPr lang="en-US" sz="520" dirty="0">
                          <a:solidFill>
                            <a:srgbClr val="22222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TC新宿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3200" marR="43200" marT="21600" marB="21600" anchor="t">
                    <a:lnL w="1016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920"/>
                        </a:lnSpc>
                        <a:buNone/>
                      </a:pPr>
                      <a:r>
                        <a:rPr lang="en-US" sz="520" dirty="0">
                          <a:solidFill>
                            <a:srgbClr val="22222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確定（シフト作成）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3200" marR="43200" marT="21600" marB="21600" anchor="t">
                    <a:lnL w="1016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920"/>
                        </a:lnSpc>
                        <a:buNone/>
                      </a:pPr>
                      <a:r>
                        <a:rPr lang="en-US" sz="520" dirty="0">
                          <a:solidFill>
                            <a:srgbClr val="22222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7:00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3200" marR="43200" marT="21600" marB="21600" anchor="t">
                    <a:lnL w="1016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920"/>
                        </a:lnSpc>
                        <a:buNone/>
                      </a:pPr>
                      <a:r>
                        <a:rPr lang="en-US" sz="520" dirty="0">
                          <a:solidFill>
                            <a:srgbClr val="22222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…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3200" marR="43200" marT="21600" marB="21600" anchor="t">
                    <a:lnL w="1016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9962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920"/>
                        </a:lnSpc>
                        <a:buNone/>
                      </a:pPr>
                      <a:r>
                        <a:rPr lang="en-US" sz="520" dirty="0">
                          <a:solidFill>
                            <a:srgbClr val="666666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3200" marR="43200" marT="21600" marB="21600" anchor="t">
                    <a:lnL w="1016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920"/>
                        </a:lnSpc>
                        <a:buNone/>
                      </a:pPr>
                      <a:r>
                        <a:rPr lang="en-US" sz="520" dirty="0">
                          <a:solidFill>
                            <a:srgbClr val="22222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2026/08/01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3200" marR="43200" marT="21600" marB="21600" anchor="t">
                    <a:lnL w="1016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920"/>
                        </a:lnSpc>
                        <a:buNone/>
                      </a:pPr>
                      <a:r>
                        <a:rPr lang="en-US" sz="520" dirty="0">
                          <a:solidFill>
                            <a:srgbClr val="22222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TC新宿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3200" marR="43200" marT="21600" marB="21600" anchor="t">
                    <a:lnL w="1016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920"/>
                        </a:lnSpc>
                        <a:buNone/>
                      </a:pPr>
                      <a:r>
                        <a:rPr lang="en-US" sz="520" dirty="0">
                          <a:solidFill>
                            <a:srgbClr val="22222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確定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3200" marR="43200" marT="21600" marB="21600" anchor="t">
                    <a:lnL w="1016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920"/>
                        </a:lnSpc>
                        <a:buNone/>
                      </a:pPr>
                      <a:r>
                        <a:rPr lang="en-US" sz="520" dirty="0">
                          <a:solidFill>
                            <a:srgbClr val="22222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20:00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3200" marR="43200" marT="21600" marB="21600" anchor="t">
                    <a:lnL w="1016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920"/>
                        </a:lnSpc>
                        <a:buNone/>
                      </a:pPr>
                      <a:r>
                        <a:rPr lang="en-US" sz="520" dirty="0">
                          <a:solidFill>
                            <a:srgbClr val="22222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…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3200" marR="43200" marT="21600" marB="21600" anchor="t">
                    <a:lnL w="1016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2" name="Text 19"/>
          <p:cNvSpPr txBox="1"/>
          <p:nvPr/>
        </p:nvSpPr>
        <p:spPr>
          <a:xfrm>
            <a:off x="431899" y="4182070"/>
            <a:ext cx="2922937" cy="262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0"/>
              </a:lnSpc>
              <a:buNone/>
            </a:pPr>
            <a:r>
              <a:rPr lang="en-US" sz="66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【図1】CSV_1〜6 ― </a:t>
            </a:r>
            <a:pPr algn="l" indent="0" marL="0">
              <a:lnSpc>
                <a:spcPts val="1030"/>
              </a:lnSpc>
              <a:buNone/>
            </a:pPr>
            <a:r>
              <a:rPr lang="en-US" sz="66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1行目のヘッダーごと</a:t>
            </a:r>
            <a:pPr algn="l" indent="0" marL="0">
              <a:lnSpc>
                <a:spcPts val="1030"/>
              </a:lnSpc>
              <a:buNone/>
            </a:pPr>
            <a:r>
              <a:rPr lang="en-US" sz="66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オレンジのA1セルへ貼り付け（並べ替え不要）</a:t>
            </a:r>
            <a:endParaRPr lang="en-US" sz="660" dirty="0"/>
          </a:p>
        </p:txBody>
      </p:sp>
      <p:pic>
        <p:nvPicPr>
          <p:cNvPr id="23" name="Image 0" descr="/home/user/claude-code-practice/tools/attendance_dashboard/docs/img/g_pas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05336" y="3463975"/>
            <a:ext cx="3722638" cy="775543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3405336" y="3463975"/>
            <a:ext cx="3722638" cy="775543"/>
          </a:xfrm>
          <a:prstGeom prst="rect">
            <a:avLst/>
          </a:prstGeom>
          <a:noFill/>
          <a:ln w="10160">
            <a:solidFill>
              <a:srgbClr val="CFD3D8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3405336" y="4268242"/>
            <a:ext cx="3722638" cy="131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0"/>
              </a:lnSpc>
              <a:buNone/>
            </a:pPr>
            <a:r>
              <a:rPr lang="en-US" sz="66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【図2】使い方シートの貼付状況 ― 貼った月と行数、「OK」を確認</a:t>
            </a:r>
            <a:endParaRPr lang="en-US" sz="660" dirty="0"/>
          </a:p>
        </p:txBody>
      </p:sp>
      <p:pic>
        <p:nvPicPr>
          <p:cNvPr id="26" name="Image 1" descr="/home/user/claude-code-practice/tools/attendance_dashboard/docs/img/shot_sta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899" y="4552057"/>
            <a:ext cx="3909715" cy="799505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431899" y="4552057"/>
            <a:ext cx="3909715" cy="799505"/>
          </a:xfrm>
          <a:prstGeom prst="rect">
            <a:avLst/>
          </a:prstGeom>
          <a:noFill/>
          <a:ln w="10160">
            <a:solidFill>
              <a:srgbClr val="CFD3D8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431899" y="5380286"/>
            <a:ext cx="4138315" cy="262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0"/>
              </a:lnSpc>
              <a:buNone/>
            </a:pPr>
            <a:r>
              <a:rPr lang="en-US" sz="66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【図3】全体サマリー ― 全員分を貼るだけで自動作成。面談の順番決めや所属間の比較に（※氏名は伏せています）</a:t>
            </a:r>
            <a:endParaRPr lang="en-US" sz="660" dirty="0"/>
          </a:p>
        </p:txBody>
      </p:sp>
      <p:sp>
        <p:nvSpPr>
          <p:cNvPr id="29" name="Shape 24"/>
          <p:cNvSpPr/>
          <p:nvPr/>
        </p:nvSpPr>
        <p:spPr>
          <a:xfrm>
            <a:off x="4521547" y="4552057"/>
            <a:ext cx="2606427" cy="905470"/>
          </a:xfrm>
          <a:prstGeom prst="rect">
            <a:avLst/>
          </a:prstGeom>
          <a:solidFill>
            <a:srgbClr val="F3F5F8"/>
          </a:solidFill>
          <a:ln w="10160">
            <a:solidFill>
              <a:srgbClr val="7D8794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4621072" y="4604782"/>
            <a:ext cx="2506842" cy="80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全体サマリーとスタッフ一覧</a:t>
            </a:r>
            <a:endParaRPr lang="en-US" sz="700" dirty="0"/>
          </a:p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「全体サマリー」に全体の出勤率・当欠率／</a:t>
            </a:r>
            <a:pPr algn="l" indent="0" marL="0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所属別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の平均／</a:t>
            </a:r>
            <a:pPr algn="l" indent="0" marL="0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当欠率ワースト10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（確定シフト20日以上）。「スタッフ一覧」は全員の一覧で、フィルターで所属や判定を絞り込めます。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5555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全体サマリーはA4横1枚で印刷できます。1人ずつの詳細はダッシュボードで。</a:t>
            </a:r>
            <a:endParaRPr lang="en-US" sz="700" dirty="0"/>
          </a:p>
        </p:txBody>
      </p:sp>
      <p:sp>
        <p:nvSpPr>
          <p:cNvPr id="31" name="Text 26"/>
          <p:cNvSpPr txBox="1"/>
          <p:nvPr/>
        </p:nvSpPr>
        <p:spPr>
          <a:xfrm>
            <a:off x="431899" y="5858321"/>
            <a:ext cx="6696075" cy="1794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0"/>
              </a:lnSpc>
              <a:buNone/>
            </a:pPr>
            <a:r>
              <a:rPr lang="en-US" sz="91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■ </a:t>
            </a:r>
            <a:pPr algn="l" indent="0" marL="0">
              <a:lnSpc>
                <a:spcPts val="1410"/>
              </a:lnSpc>
              <a:buNone/>
            </a:pPr>
            <a:r>
              <a:rPr lang="en-US" sz="91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画面の見方 </a:t>
            </a:r>
            <a:pPr algn="l" indent="0" marL="0">
              <a:lnSpc>
                <a:spcPts val="1410"/>
              </a:lnSpc>
              <a:buNone/>
            </a:pPr>
            <a:r>
              <a:rPr lang="en-US" sz="77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― 上でスタッフを選ぶ → 下の数字とグラフを見る</a:t>
            </a:r>
            <a:endParaRPr lang="en-US" sz="910" dirty="0"/>
          </a:p>
        </p:txBody>
      </p:sp>
      <p:pic>
        <p:nvPicPr>
          <p:cNvPr id="32" name="Image 2" descr="/home/user/claude-code-practice/tools/attendance_dashboard/docs/img/g_hea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99" y="6091684"/>
            <a:ext cx="6696075" cy="1707803"/>
          </a:xfrm>
          <a:prstGeom prst="rect">
            <a:avLst/>
          </a:prstGeom>
        </p:spPr>
      </p:pic>
      <p:sp>
        <p:nvSpPr>
          <p:cNvPr id="33" name="Shape 27"/>
          <p:cNvSpPr/>
          <p:nvPr/>
        </p:nvSpPr>
        <p:spPr>
          <a:xfrm>
            <a:off x="431899" y="6091684"/>
            <a:ext cx="6696075" cy="1707803"/>
          </a:xfrm>
          <a:prstGeom prst="rect">
            <a:avLst/>
          </a:prstGeom>
          <a:noFill/>
          <a:ln w="10160">
            <a:solidFill>
              <a:srgbClr val="CFD3D8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431899" y="7828211"/>
            <a:ext cx="6696075" cy="131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0"/>
              </a:lnSpc>
              <a:buNone/>
            </a:pPr>
            <a:r>
              <a:rPr lang="en-US" sz="66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【図4】ダッシュボード上部 ― ここだけで面談の話が8割できます（※表示はサンプルデータ）</a:t>
            </a:r>
            <a:endParaRPr lang="en-US" sz="660" dirty="0"/>
          </a:p>
        </p:txBody>
      </p:sp>
      <p:sp>
        <p:nvSpPr>
          <p:cNvPr id="35" name="Shape 29"/>
          <p:cNvSpPr/>
          <p:nvPr/>
        </p:nvSpPr>
        <p:spPr>
          <a:xfrm>
            <a:off x="431899" y="8031212"/>
            <a:ext cx="3258145" cy="381595"/>
          </a:xfrm>
          <a:prstGeom prst="rect">
            <a:avLst/>
          </a:prstGeom>
          <a:solidFill>
            <a:srgbClr val="FFFFFF"/>
          </a:solidFill>
          <a:ln w="10160">
            <a:solidFill>
              <a:srgbClr val="1F3A5F"/>
            </a:solidFill>
            <a:prstDash val="solid"/>
          </a:ln>
        </p:spPr>
      </p:sp>
      <p:sp>
        <p:nvSpPr>
          <p:cNvPr id="36" name="Text 30"/>
          <p:cNvSpPr txBox="1"/>
          <p:nvPr/>
        </p:nvSpPr>
        <p:spPr>
          <a:xfrm>
            <a:off x="531424" y="8083937"/>
            <a:ext cx="3242641" cy="276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7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</a:t>
            </a:r>
            <a:pPr algn="l" indent="0" marL="0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スタッフ選択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▼から選ぶか氏名を入力。上の黄色い欄に名前や番号の一部を入れると候補を絞り込めます</a:t>
            </a:r>
            <a:endParaRPr lang="en-US" sz="870" dirty="0"/>
          </a:p>
        </p:txBody>
      </p:sp>
      <p:sp>
        <p:nvSpPr>
          <p:cNvPr id="37" name="Shape 31"/>
          <p:cNvSpPr/>
          <p:nvPr/>
        </p:nvSpPr>
        <p:spPr>
          <a:xfrm>
            <a:off x="431899" y="8463111"/>
            <a:ext cx="3258145" cy="381595"/>
          </a:xfrm>
          <a:prstGeom prst="rect">
            <a:avLst/>
          </a:prstGeom>
          <a:solidFill>
            <a:srgbClr val="FFFFFF"/>
          </a:solidFill>
          <a:ln w="10160">
            <a:solidFill>
              <a:srgbClr val="1F3A5F"/>
            </a:solidFill>
            <a:prstDash val="solid"/>
          </a:ln>
        </p:spPr>
      </p:sp>
      <p:sp>
        <p:nvSpPr>
          <p:cNvPr id="38" name="Text 32"/>
          <p:cNvSpPr txBox="1"/>
          <p:nvPr/>
        </p:nvSpPr>
        <p:spPr>
          <a:xfrm>
            <a:off x="531424" y="8515836"/>
            <a:ext cx="3242641" cy="276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7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</a:t>
            </a:r>
            <a:pPr algn="l" indent="0" marL="0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総合判定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◎良好（95%以上）／△注意（90%以上）／✕要改善。確定シフトが20日未満の人は判定を出さず</a:t>
            </a:r>
            <a:pPr algn="l" indent="0" marL="0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「参考値」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と表示します</a:t>
            </a:r>
            <a:endParaRPr lang="en-US" sz="870" dirty="0"/>
          </a:p>
        </p:txBody>
      </p:sp>
      <p:sp>
        <p:nvSpPr>
          <p:cNvPr id="39" name="Shape 33"/>
          <p:cNvSpPr/>
          <p:nvPr/>
        </p:nvSpPr>
        <p:spPr>
          <a:xfrm>
            <a:off x="3869978" y="8031212"/>
            <a:ext cx="3258145" cy="381595"/>
          </a:xfrm>
          <a:prstGeom prst="rect">
            <a:avLst/>
          </a:prstGeom>
          <a:solidFill>
            <a:srgbClr val="FFFFFF"/>
          </a:solidFill>
          <a:ln w="10160">
            <a:solidFill>
              <a:srgbClr val="1F3A5F"/>
            </a:solidFill>
            <a:prstDash val="solid"/>
          </a:ln>
        </p:spPr>
      </p:sp>
      <p:sp>
        <p:nvSpPr>
          <p:cNvPr id="40" name="Text 34"/>
          <p:cNvSpPr txBox="1"/>
          <p:nvPr/>
        </p:nvSpPr>
        <p:spPr>
          <a:xfrm>
            <a:off x="3969503" y="8083937"/>
            <a:ext cx="3158412" cy="276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7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</a:t>
            </a:r>
            <a:pPr algn="l" indent="0" marL="0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6つの数字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出勤日数・出勤率・欠勤日数・当日欠勤率・勤務時間・土日祝出勤率。当欠率が基準以上なら赤く強調されます</a:t>
            </a:r>
            <a:endParaRPr lang="en-US" sz="870" dirty="0"/>
          </a:p>
        </p:txBody>
      </p:sp>
      <p:sp>
        <p:nvSpPr>
          <p:cNvPr id="41" name="Shape 35"/>
          <p:cNvSpPr/>
          <p:nvPr/>
        </p:nvSpPr>
        <p:spPr>
          <a:xfrm>
            <a:off x="3869978" y="8463111"/>
            <a:ext cx="3258145" cy="381595"/>
          </a:xfrm>
          <a:prstGeom prst="rect">
            <a:avLst/>
          </a:prstGeom>
          <a:solidFill>
            <a:srgbClr val="FFFFFF"/>
          </a:solidFill>
          <a:ln w="10160">
            <a:solidFill>
              <a:srgbClr val="1F3A5F"/>
            </a:solidFill>
            <a:prstDash val="solid"/>
          </a:ln>
        </p:spPr>
      </p:sp>
      <p:sp>
        <p:nvSpPr>
          <p:cNvPr id="42" name="Text 36"/>
          <p:cNvSpPr txBox="1"/>
          <p:nvPr/>
        </p:nvSpPr>
        <p:spPr>
          <a:xfrm>
            <a:off x="3969503" y="8515836"/>
            <a:ext cx="3158412" cy="276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7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</a:t>
            </a:r>
            <a:pPr algn="l" indent="0" marL="0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一文サマリーと警告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面談でそのまま読み上げる文（全体平均と順位入り）。基準超えの人だけ赤い警告行が出ます</a:t>
            </a:r>
            <a:endParaRPr lang="en-US" sz="870" dirty="0"/>
          </a:p>
        </p:txBody>
      </p:sp>
      <p:sp>
        <p:nvSpPr>
          <p:cNvPr id="43" name="Shape 37"/>
          <p:cNvSpPr/>
          <p:nvPr/>
        </p:nvSpPr>
        <p:spPr>
          <a:xfrm>
            <a:off x="431899" y="8934599"/>
            <a:ext cx="6696075" cy="433685"/>
          </a:xfrm>
          <a:prstGeom prst="rect">
            <a:avLst/>
          </a:prstGeom>
          <a:solidFill>
            <a:srgbClr val="F3F5F8"/>
          </a:solidFill>
          <a:ln/>
        </p:spPr>
      </p:sp>
      <p:sp>
        <p:nvSpPr>
          <p:cNvPr id="44" name="Shape 38"/>
          <p:cNvSpPr/>
          <p:nvPr/>
        </p:nvSpPr>
        <p:spPr>
          <a:xfrm>
            <a:off x="431899" y="8934599"/>
            <a:ext cx="38100" cy="433685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45" name="Text 39"/>
          <p:cNvSpPr txBox="1"/>
          <p:nvPr/>
        </p:nvSpPr>
        <p:spPr>
          <a:xfrm>
            <a:off x="577999" y="9006599"/>
            <a:ext cx="6549915" cy="289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730" b="1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数字の定義</a:t>
            </a:r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出勤率 ＝ 出勤日数 ÷ 確定シフト日数（出勤＋当日欠勤） ／ 当欠率 ＝ </a:t>
            </a:r>
            <a:pPr algn="l" indent="0" marL="0">
              <a:lnSpc>
                <a:spcPts val="1140"/>
              </a:lnSpc>
              <a:buNone/>
            </a:pPr>
            <a:r>
              <a:rPr lang="en-US" sz="730" b="1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当日</a:t>
            </a:r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に「休み」へ変更した日数 ÷ 確定シフト日数（</a:t>
            </a:r>
            <a:pPr algn="l" indent="0" marL="0">
              <a:lnSpc>
                <a:spcPts val="1140"/>
              </a:lnSpc>
              <a:buNone/>
            </a:pPr>
            <a:r>
              <a:rPr lang="en-US" sz="730" b="1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前日までの変更は含みません</a:t>
            </a:r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） ／ 土日祝出勤率 ＝ 土日祝・繁忙日（GW・お盆・年末年始）の出勤日数 ÷ 出勤日数</a:t>
            </a:r>
            <a:endParaRPr lang="en-US" sz="730" dirty="0"/>
          </a:p>
        </p:txBody>
      </p:sp>
      <p:sp>
        <p:nvSpPr>
          <p:cNvPr id="46" name="Text 40"/>
          <p:cNvSpPr txBox="1"/>
          <p:nvPr/>
        </p:nvSpPr>
        <p:spPr>
          <a:xfrm>
            <a:off x="431899" y="9512201"/>
            <a:ext cx="6696075" cy="1794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0"/>
              </a:lnSpc>
              <a:buNone/>
            </a:pPr>
            <a:r>
              <a:rPr lang="en-US" sz="91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■ </a:t>
            </a:r>
            <a:pPr algn="l" indent="0" marL="0">
              <a:lnSpc>
                <a:spcPts val="1410"/>
              </a:lnSpc>
              <a:buNone/>
            </a:pPr>
            <a:r>
              <a:rPr lang="en-US" sz="91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数が合わないと感じたら </a:t>
            </a:r>
            <a:pPr algn="l" indent="0" marL="0">
              <a:lnSpc>
                <a:spcPts val="1410"/>
              </a:lnSpc>
              <a:buNone/>
            </a:pPr>
            <a:r>
              <a:rPr lang="en-US" sz="77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― よくある原因</a:t>
            </a:r>
            <a:endParaRPr lang="en-US" sz="910" dirty="0"/>
          </a:p>
        </p:txBody>
      </p:sp>
      <p:sp>
        <p:nvSpPr>
          <p:cNvPr id="47" name="Shape 41"/>
          <p:cNvSpPr/>
          <p:nvPr/>
        </p:nvSpPr>
        <p:spPr>
          <a:xfrm>
            <a:off x="431899" y="9745563"/>
            <a:ext cx="3258145" cy="554534"/>
          </a:xfrm>
          <a:prstGeom prst="rect">
            <a:avLst/>
          </a:prstGeom>
          <a:solidFill>
            <a:srgbClr val="FFF8EE"/>
          </a:solidFill>
          <a:ln w="10160">
            <a:solidFill>
              <a:srgbClr val="E39A3B"/>
            </a:solidFill>
            <a:prstDash val="solid"/>
          </a:ln>
        </p:spPr>
      </p:sp>
      <p:sp>
        <p:nvSpPr>
          <p:cNvPr id="48" name="Text 42"/>
          <p:cNvSpPr txBox="1"/>
          <p:nvPr/>
        </p:nvSpPr>
        <p:spPr>
          <a:xfrm>
            <a:off x="531316" y="9805392"/>
            <a:ext cx="3242870" cy="434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</a:t>
            </a:r>
            <a:pPr algn="l" indent="0" marL="0">
              <a:lnSpc>
                <a:spcPts val="1140"/>
              </a:lnSpc>
              <a:buNone/>
            </a:pPr>
            <a:r>
              <a:rPr lang="en-US" sz="730" b="1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貼付状況に「※」が無いか確認</a:t>
            </a:r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（前月の行が残ると月がずれます）</a:t>
            </a:r>
            <a:endParaRPr lang="en-US" sz="730" dirty="0"/>
          </a:p>
          <a:p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</a:t>
            </a:r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貼り直しは</a:t>
            </a:r>
            <a:pPr algn="l" indent="0" marL="0">
              <a:lnSpc>
                <a:spcPts val="1140"/>
              </a:lnSpc>
              <a:buNone/>
            </a:pPr>
            <a:r>
              <a:rPr lang="en-US" sz="730" b="1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全選択→Delete</a:t>
            </a:r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してから</a:t>
            </a:r>
            <a:endParaRPr lang="en-US" sz="730" dirty="0"/>
          </a:p>
          <a:p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</a:t>
            </a:r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同じ人が2人に見える → 従業員番号が違います</a:t>
            </a:r>
            <a:endParaRPr lang="en-US" sz="730" dirty="0"/>
          </a:p>
        </p:txBody>
      </p:sp>
      <p:sp>
        <p:nvSpPr>
          <p:cNvPr id="49" name="Shape 43"/>
          <p:cNvSpPr/>
          <p:nvPr/>
        </p:nvSpPr>
        <p:spPr>
          <a:xfrm>
            <a:off x="3869978" y="9745563"/>
            <a:ext cx="3258145" cy="554534"/>
          </a:xfrm>
          <a:prstGeom prst="rect">
            <a:avLst/>
          </a:prstGeom>
          <a:solidFill>
            <a:srgbClr val="FFF8EE"/>
          </a:solidFill>
          <a:ln w="10160">
            <a:solidFill>
              <a:srgbClr val="E39A3B"/>
            </a:solidFill>
            <a:prstDash val="solid"/>
          </a:ln>
        </p:spPr>
      </p:sp>
      <p:sp>
        <p:nvSpPr>
          <p:cNvPr id="50" name="Text 44"/>
          <p:cNvSpPr txBox="1"/>
          <p:nvPr/>
        </p:nvSpPr>
        <p:spPr>
          <a:xfrm>
            <a:off x="3969395" y="9805392"/>
            <a:ext cx="3158520" cy="434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</a:t>
            </a:r>
            <a:pPr algn="l" indent="0" marL="0">
              <a:lnSpc>
                <a:spcPts val="1140"/>
              </a:lnSpc>
              <a:buNone/>
            </a:pPr>
            <a:r>
              <a:rPr lang="en-US" sz="730" b="1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「参考値」</a:t>
            </a:r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は出勤率が低い意味ではなく、日数が少ないだけです</a:t>
            </a:r>
            <a:endParaRPr lang="en-US" sz="730" dirty="0"/>
          </a:p>
          <a:p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</a:t>
            </a:r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土日祝出勤率が低い → 「祝日・繁忙日」の登録状況を確認</a:t>
            </a:r>
            <a:endParaRPr lang="en-US" sz="730" dirty="0"/>
          </a:p>
          <a:p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</a:t>
            </a:r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欠勤が多い → 【図12】で店側都合の当日変更が無いか確認</a:t>
            </a:r>
            <a:endParaRPr lang="en-US" sz="73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59873" cy="816173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32000" y="324000"/>
            <a:ext cx="6695915" cy="276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勤務実績ダッシュボード 運用ガイド</a:t>
            </a:r>
            <a:pPr algn="l" indent="0" marL="0">
              <a:lnSpc>
                <a:spcPts val="2180"/>
              </a:lnSpc>
              <a:buNone/>
            </a:pPr>
            <a:r>
              <a:rPr lang="en-US" sz="84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</a:t>
            </a:r>
            <a:pPr algn="l" indent="0" marL="0">
              <a:lnSpc>
                <a:spcPts val="2180"/>
              </a:lnSpc>
              <a:buNone/>
            </a:pPr>
            <a:r>
              <a:rPr lang="en-US" sz="84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/ 2 グラフ・一覧の読み方と面談での使い方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816173"/>
            <a:ext cx="7559873" cy="288727"/>
          </a:xfrm>
          <a:prstGeom prst="rect">
            <a:avLst/>
          </a:prstGeom>
          <a:solidFill>
            <a:srgbClr val="6B6F7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31959" y="888173"/>
            <a:ext cx="6695915" cy="1447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ＴＯＨＯシネマズ新宿 副支配人 笹川 晴央</a:t>
            </a:r>
            <a:endParaRPr lang="en-US" sz="730" dirty="0"/>
          </a:p>
        </p:txBody>
      </p:sp>
      <p:sp>
        <p:nvSpPr>
          <p:cNvPr id="6" name="Text 4"/>
          <p:cNvSpPr txBox="1"/>
          <p:nvPr/>
        </p:nvSpPr>
        <p:spPr>
          <a:xfrm>
            <a:off x="431899" y="1428750"/>
            <a:ext cx="6696075" cy="1794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0"/>
              </a:lnSpc>
              <a:buNone/>
            </a:pPr>
            <a:r>
              <a:rPr lang="en-US" sz="91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■ </a:t>
            </a:r>
            <a:pPr algn="l" indent="0" marL="0">
              <a:lnSpc>
                <a:spcPts val="1410"/>
              </a:lnSpc>
              <a:buNone/>
            </a:pPr>
            <a:r>
              <a:rPr lang="en-US" sz="91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6つのグラフ </a:t>
            </a:r>
            <a:pPr algn="l" indent="0" marL="0">
              <a:lnSpc>
                <a:spcPts val="1410"/>
              </a:lnSpc>
              <a:buNone/>
            </a:pPr>
            <a:r>
              <a:rPr lang="en-US" sz="77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― 上段は「実績」、下段は「働き方のクセ」</a:t>
            </a:r>
            <a:endParaRPr lang="en-US" sz="910" dirty="0"/>
          </a:p>
        </p:txBody>
      </p:sp>
      <p:pic>
        <p:nvPicPr>
          <p:cNvPr id="7" name="Image 0" descr="/home/user/claude-code-practice/tools/attendance_dashboard/docs/img/g_r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897" y="1662113"/>
            <a:ext cx="1601986" cy="130671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98897" y="1662113"/>
            <a:ext cx="1601986" cy="1306711"/>
          </a:xfrm>
          <a:prstGeom prst="rect">
            <a:avLst/>
          </a:prstGeom>
          <a:noFill/>
          <a:ln w="10160">
            <a:solidFill>
              <a:srgbClr val="CFD3D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31899" y="2990404"/>
            <a:ext cx="6696015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63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【図5】</a:t>
            </a:r>
            <a:pPr algn="l" indent="0" marL="0">
              <a:lnSpc>
                <a:spcPts val="980"/>
              </a:lnSpc>
              <a:buNone/>
            </a:pPr>
            <a:r>
              <a:rPr lang="en-US" sz="63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出勤率</a:t>
            </a:r>
            <a:pPr algn="l" indent="0" marL="0">
              <a:lnSpc>
                <a:spcPts val="980"/>
              </a:lnSpc>
              <a:buNone/>
            </a:pPr>
            <a:r>
              <a:rPr lang="en-US" sz="63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赤が当日欠勤</a:t>
            </a:r>
            <a:endParaRPr lang="en-US" sz="630" dirty="0"/>
          </a:p>
        </p:txBody>
      </p:sp>
      <p:pic>
        <p:nvPicPr>
          <p:cNvPr id="10" name="Image 1" descr="/home/user/claude-code-practice/tools/attendance_dashboard/docs/img/g_mont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8944" y="1662113"/>
            <a:ext cx="1601986" cy="1306711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978944" y="1662113"/>
            <a:ext cx="1601986" cy="1306711"/>
          </a:xfrm>
          <a:prstGeom prst="rect">
            <a:avLst/>
          </a:prstGeom>
          <a:noFill/>
          <a:ln w="10160">
            <a:solidFill>
              <a:srgbClr val="CFD3D8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2711946" y="2990404"/>
            <a:ext cx="4415969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63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【図6】</a:t>
            </a:r>
            <a:pPr algn="l" indent="0" marL="0">
              <a:lnSpc>
                <a:spcPts val="980"/>
              </a:lnSpc>
              <a:buNone/>
            </a:pPr>
            <a:r>
              <a:rPr lang="en-US" sz="63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月別</a:t>
            </a:r>
            <a:pPr algn="l" indent="0" marL="0">
              <a:lnSpc>
                <a:spcPts val="980"/>
              </a:lnSpc>
              <a:buNone/>
            </a:pPr>
            <a:r>
              <a:rPr lang="en-US" sz="63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月の偏りを見る</a:t>
            </a:r>
            <a:endParaRPr lang="en-US" sz="630" dirty="0"/>
          </a:p>
        </p:txBody>
      </p:sp>
      <p:pic>
        <p:nvPicPr>
          <p:cNvPr id="13" name="Image 2" descr="/home/user/claude-code-practice/tools/attendance_dashboard/docs/img/g_jo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8991" y="1662113"/>
            <a:ext cx="1601986" cy="1306711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5258991" y="1662113"/>
            <a:ext cx="1601986" cy="1306711"/>
          </a:xfrm>
          <a:prstGeom prst="rect">
            <a:avLst/>
          </a:prstGeom>
          <a:noFill/>
          <a:ln w="10160">
            <a:solidFill>
              <a:srgbClr val="CFD3D8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4991993" y="2990404"/>
            <a:ext cx="2136130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63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【図7】</a:t>
            </a:r>
            <a:pPr algn="l" indent="0" marL="0">
              <a:lnSpc>
                <a:spcPts val="980"/>
              </a:lnSpc>
              <a:buNone/>
            </a:pPr>
            <a:r>
              <a:rPr lang="en-US" sz="63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職種別</a:t>
            </a:r>
            <a:pPr algn="l" indent="0" marL="0">
              <a:lnSpc>
                <a:spcPts val="980"/>
              </a:lnSpc>
              <a:buNone/>
            </a:pPr>
            <a:r>
              <a:rPr lang="en-US" sz="63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セクションごとの割合</a:t>
            </a:r>
            <a:endParaRPr lang="en-US" sz="630" dirty="0"/>
          </a:p>
        </p:txBody>
      </p:sp>
      <p:pic>
        <p:nvPicPr>
          <p:cNvPr id="16" name="Image 3" descr="/home/user/claude-code-practice/tools/attendance_dashboard/docs/img/g_w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897" y="3186410"/>
            <a:ext cx="1601986" cy="1271141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698897" y="3186410"/>
            <a:ext cx="1601986" cy="1271141"/>
          </a:xfrm>
          <a:prstGeom prst="rect">
            <a:avLst/>
          </a:prstGeom>
          <a:noFill/>
          <a:ln w="10160">
            <a:solidFill>
              <a:srgbClr val="CFD3D8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431899" y="4479131"/>
            <a:ext cx="6696015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63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【図8】</a:t>
            </a:r>
            <a:pPr algn="l" indent="0" marL="0">
              <a:lnSpc>
                <a:spcPts val="980"/>
              </a:lnSpc>
              <a:buNone/>
            </a:pPr>
            <a:r>
              <a:rPr lang="en-US" sz="63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曜日別</a:t>
            </a:r>
            <a:pPr algn="l" indent="0" marL="0">
              <a:lnSpc>
                <a:spcPts val="980"/>
              </a:lnSpc>
              <a:buNone/>
            </a:pPr>
            <a:r>
              <a:rPr lang="en-US" sz="63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濃い青が土日</a:t>
            </a:r>
            <a:endParaRPr lang="en-US" sz="630" dirty="0"/>
          </a:p>
        </p:txBody>
      </p:sp>
      <p:pic>
        <p:nvPicPr>
          <p:cNvPr id="19" name="Image 4" descr="/home/user/claude-code-practice/tools/attendance_dashboard/docs/img/g_cm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78944" y="3186410"/>
            <a:ext cx="1601986" cy="1271141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2978944" y="3186410"/>
            <a:ext cx="1601986" cy="1271141"/>
          </a:xfrm>
          <a:prstGeom prst="rect">
            <a:avLst/>
          </a:prstGeom>
          <a:noFill/>
          <a:ln w="10160">
            <a:solidFill>
              <a:srgbClr val="CFD3D8"/>
            </a:solidFill>
            <a:prstDash val="solid"/>
          </a:ln>
        </p:spPr>
      </p:sp>
      <p:sp>
        <p:nvSpPr>
          <p:cNvPr id="21" name="Text 14"/>
          <p:cNvSpPr txBox="1"/>
          <p:nvPr/>
        </p:nvSpPr>
        <p:spPr>
          <a:xfrm>
            <a:off x="2711946" y="4479131"/>
            <a:ext cx="4415969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63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【図9】</a:t>
            </a:r>
            <a:pPr algn="l" indent="0" marL="0">
              <a:lnSpc>
                <a:spcPts val="980"/>
              </a:lnSpc>
              <a:buNone/>
            </a:pPr>
            <a:r>
              <a:rPr lang="en-US" sz="63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出勤時間帯</a:t>
            </a:r>
            <a:pPr algn="l" indent="0" marL="0">
              <a:lnSpc>
                <a:spcPts val="980"/>
              </a:lnSpc>
              <a:buNone/>
            </a:pPr>
            <a:r>
              <a:rPr lang="en-US" sz="63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下の表で全体・同所属と比較</a:t>
            </a:r>
            <a:endParaRPr lang="en-US" sz="630" dirty="0"/>
          </a:p>
        </p:txBody>
      </p:sp>
      <p:pic>
        <p:nvPicPr>
          <p:cNvPr id="22" name="Image 5" descr="/home/user/claude-code-practice/tools/attendance_dashboard/docs/img/g_timing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8991" y="3186410"/>
            <a:ext cx="1601986" cy="1271141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5258991" y="3186410"/>
            <a:ext cx="1601986" cy="1271141"/>
          </a:xfrm>
          <a:prstGeom prst="rect">
            <a:avLst/>
          </a:prstGeom>
          <a:noFill/>
          <a:ln w="10160">
            <a:solidFill>
              <a:srgbClr val="CFD3D8"/>
            </a:solidFill>
            <a:prstDash val="solid"/>
          </a:ln>
        </p:spPr>
      </p:sp>
      <p:sp>
        <p:nvSpPr>
          <p:cNvPr id="24" name="Text 16"/>
          <p:cNvSpPr txBox="1"/>
          <p:nvPr/>
        </p:nvSpPr>
        <p:spPr>
          <a:xfrm>
            <a:off x="4991993" y="4479131"/>
            <a:ext cx="2136130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63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【図10】</a:t>
            </a:r>
            <a:pPr algn="l" indent="0" marL="0">
              <a:lnSpc>
                <a:spcPts val="980"/>
              </a:lnSpc>
              <a:buNone/>
            </a:pPr>
            <a:r>
              <a:rPr lang="en-US" sz="63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休み・時間変更</a:t>
            </a:r>
            <a:pPr algn="l" indent="0" marL="0">
              <a:lnSpc>
                <a:spcPts val="980"/>
              </a:lnSpc>
              <a:buNone/>
            </a:pPr>
            <a:r>
              <a:rPr lang="en-US" sz="63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下2行は当日の時間変更</a:t>
            </a:r>
            <a:endParaRPr lang="en-US" sz="630" dirty="0"/>
          </a:p>
        </p:txBody>
      </p:sp>
      <p:sp>
        <p:nvSpPr>
          <p:cNvPr id="25" name="Shape 17"/>
          <p:cNvSpPr/>
          <p:nvPr/>
        </p:nvSpPr>
        <p:spPr>
          <a:xfrm>
            <a:off x="431899" y="4675138"/>
            <a:ext cx="3258145" cy="1057126"/>
          </a:xfrm>
          <a:prstGeom prst="rect">
            <a:avLst/>
          </a:prstGeom>
          <a:solidFill>
            <a:srgbClr val="F3F5F8"/>
          </a:solidFill>
          <a:ln w="10160">
            <a:solidFill>
              <a:srgbClr val="7D8794"/>
            </a:solidFill>
            <a:prstDash val="solid"/>
          </a:ln>
        </p:spPr>
      </p:sp>
      <p:sp>
        <p:nvSpPr>
          <p:cNvPr id="26" name="Text 18"/>
          <p:cNvSpPr txBox="1"/>
          <p:nvPr/>
        </p:nvSpPr>
        <p:spPr>
          <a:xfrm>
            <a:off x="531316" y="4734967"/>
            <a:ext cx="6596598" cy="1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80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読み方のコツ</a:t>
            </a:r>
            <a:endParaRPr lang="en-US" sz="800" dirty="0"/>
          </a:p>
        </p:txBody>
      </p:sp>
      <p:sp>
        <p:nvSpPr>
          <p:cNvPr id="27" name="Text 19"/>
          <p:cNvSpPr txBox="1"/>
          <p:nvPr/>
        </p:nvSpPr>
        <p:spPr>
          <a:xfrm>
            <a:off x="531316" y="4947642"/>
            <a:ext cx="3242870" cy="7247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</a:t>
            </a:r>
            <a:pPr algn="l" indent="0" marL="0">
              <a:lnSpc>
                <a:spcPts val="1140"/>
              </a:lnSpc>
              <a:buNone/>
            </a:pPr>
            <a:r>
              <a:rPr lang="en-US" sz="730" b="1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出勤率の平均との比較は【図4】の一文</a:t>
            </a:r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に。下回るなら差を本人に示す</a:t>
            </a:r>
            <a:endParaRPr lang="en-US" sz="730" dirty="0"/>
          </a:p>
          <a:p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</a:t>
            </a:r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【図9】で紺（本人）が他の線より内側の時間帯は</a:t>
            </a:r>
            <a:pPr algn="l" indent="0" marL="0">
              <a:lnSpc>
                <a:spcPts val="1140"/>
              </a:lnSpc>
              <a:buNone/>
            </a:pPr>
            <a:r>
              <a:rPr lang="en-US" sz="730" b="1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入ってもらいにくい時間帯</a:t>
            </a:r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。【図8】で土日が少なければ繁忙日の協力をお願いする材料に</a:t>
            </a:r>
            <a:endParaRPr lang="en-US" sz="730" dirty="0"/>
          </a:p>
          <a:p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</a:t>
            </a:r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土日祝出勤率は</a:t>
            </a:r>
            <a:pPr algn="l" indent="0" marL="0">
              <a:lnSpc>
                <a:spcPts val="1140"/>
              </a:lnSpc>
              <a:buNone/>
            </a:pPr>
            <a:r>
              <a:rPr lang="en-US" sz="730" b="1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平日の祝日も含む</a:t>
            </a:r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ため、土＋日の本数より多いことがあります</a:t>
            </a:r>
            <a:endParaRPr lang="en-US" sz="730" dirty="0"/>
          </a:p>
        </p:txBody>
      </p:sp>
      <p:sp>
        <p:nvSpPr>
          <p:cNvPr id="28" name="Shape 20"/>
          <p:cNvSpPr/>
          <p:nvPr/>
        </p:nvSpPr>
        <p:spPr>
          <a:xfrm>
            <a:off x="3869978" y="4675138"/>
            <a:ext cx="3258145" cy="1057126"/>
          </a:xfrm>
          <a:prstGeom prst="rect">
            <a:avLst/>
          </a:prstGeom>
          <a:solidFill>
            <a:srgbClr val="FFF8EE"/>
          </a:solidFill>
          <a:ln w="10160">
            <a:solidFill>
              <a:srgbClr val="E39A3B"/>
            </a:solidFill>
            <a:prstDash val="solid"/>
          </a:ln>
        </p:spPr>
      </p:sp>
      <p:sp>
        <p:nvSpPr>
          <p:cNvPr id="29" name="Text 21"/>
          <p:cNvSpPr txBox="1"/>
          <p:nvPr/>
        </p:nvSpPr>
        <p:spPr>
          <a:xfrm>
            <a:off x="3969395" y="4734967"/>
            <a:ext cx="3158520" cy="1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800" b="1" dirty="0">
                <a:solidFill>
                  <a:srgbClr val="C96A0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「当日遅出・当日早退」とは</a:t>
            </a:r>
            <a:endParaRPr lang="en-US" sz="800" dirty="0"/>
          </a:p>
        </p:txBody>
      </p:sp>
      <p:sp>
        <p:nvSpPr>
          <p:cNvPr id="30" name="Text 22"/>
          <p:cNvSpPr txBox="1"/>
          <p:nvPr/>
        </p:nvSpPr>
        <p:spPr>
          <a:xfrm>
            <a:off x="3969503" y="4966692"/>
            <a:ext cx="3158412" cy="530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当日になってから、シフトの</a:t>
            </a:r>
            <a:pPr algn="l" indent="0" marL="0">
              <a:lnSpc>
                <a:spcPts val="1140"/>
              </a:lnSpc>
              <a:buNone/>
            </a:pPr>
            <a:r>
              <a:rPr lang="en-US" sz="730" b="1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入りを遅く</a:t>
            </a:r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した／</a:t>
            </a:r>
            <a:pPr algn="l" indent="0" marL="0">
              <a:lnSpc>
                <a:spcPts val="1140"/>
              </a:lnSpc>
              <a:buNone/>
            </a:pPr>
            <a:r>
              <a:rPr lang="en-US" sz="730" b="1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上がりを早く</a:t>
            </a:r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した日数と率です。</a:t>
            </a:r>
            <a:pPr algn="l" indent="0" marL="0">
              <a:lnSpc>
                <a:spcPts val="1140"/>
              </a:lnSpc>
              <a:buNone/>
            </a:pPr>
            <a:r>
              <a:rPr lang="en-US" sz="730" b="1" dirty="0">
                <a:solidFill>
                  <a:srgbClr val="C039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あくまでシフト上の時間変更であり、打刻の遅刻・早退ではありません。</a:t>
            </a:r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体調や家庭の事情のこともあるため、数字だけで判断せず本人に確認してください。</a:t>
            </a:r>
            <a:endParaRPr lang="en-US" sz="730" dirty="0"/>
          </a:p>
        </p:txBody>
      </p:sp>
      <p:sp>
        <p:nvSpPr>
          <p:cNvPr id="31" name="Text 23"/>
          <p:cNvSpPr txBox="1"/>
          <p:nvPr/>
        </p:nvSpPr>
        <p:spPr>
          <a:xfrm>
            <a:off x="431899" y="5876181"/>
            <a:ext cx="6696075" cy="1794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0"/>
              </a:lnSpc>
              <a:buNone/>
            </a:pPr>
            <a:r>
              <a:rPr lang="en-US" sz="91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■ </a:t>
            </a:r>
            <a:pPr algn="l" indent="0" marL="0">
              <a:lnSpc>
                <a:spcPts val="1410"/>
              </a:lnSpc>
              <a:buNone/>
            </a:pPr>
            <a:r>
              <a:rPr lang="en-US" sz="91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ページの下半分 </a:t>
            </a:r>
            <a:pPr algn="l" indent="0" marL="0">
              <a:lnSpc>
                <a:spcPts val="1410"/>
              </a:lnSpc>
              <a:buNone/>
            </a:pPr>
            <a:r>
              <a:rPr lang="en-US" sz="77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― 根拠の明細も同じ1枚に載っています</a:t>
            </a:r>
            <a:endParaRPr lang="en-US" sz="910" dirty="0"/>
          </a:p>
        </p:txBody>
      </p:sp>
      <p:pic>
        <p:nvPicPr>
          <p:cNvPr id="32" name="Image 6" descr="/home/user/claude-code-practice/tools/attendance_dashboard/docs/img/g_mtabl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68450" y="6109543"/>
            <a:ext cx="5222825" cy="905321"/>
          </a:xfrm>
          <a:prstGeom prst="rect">
            <a:avLst/>
          </a:prstGeom>
        </p:spPr>
      </p:pic>
      <p:sp>
        <p:nvSpPr>
          <p:cNvPr id="33" name="Shape 24"/>
          <p:cNvSpPr/>
          <p:nvPr/>
        </p:nvSpPr>
        <p:spPr>
          <a:xfrm>
            <a:off x="1168450" y="6109543"/>
            <a:ext cx="5222825" cy="905321"/>
          </a:xfrm>
          <a:prstGeom prst="rect">
            <a:avLst/>
          </a:prstGeom>
          <a:noFill/>
          <a:ln w="10160">
            <a:solidFill>
              <a:srgbClr val="CFD3D8"/>
            </a:solidFill>
            <a:prstDash val="solid"/>
          </a:ln>
        </p:spPr>
      </p:sp>
      <p:sp>
        <p:nvSpPr>
          <p:cNvPr id="34" name="Text 25"/>
          <p:cNvSpPr txBox="1"/>
          <p:nvPr/>
        </p:nvSpPr>
        <p:spPr>
          <a:xfrm>
            <a:off x="431899" y="7036445"/>
            <a:ext cx="6696075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63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【図11】月別の実績 ― 6ヶ月分を横並びで比較。合計行がページ上部の数字と一致します</a:t>
            </a:r>
            <a:endParaRPr lang="en-US" sz="630" dirty="0"/>
          </a:p>
        </p:txBody>
      </p:sp>
      <p:pic>
        <p:nvPicPr>
          <p:cNvPr id="35" name="Image 7" descr="/home/user/claude-code-practice/tools/attendance_dashboard/docs/img/g_lis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68450" y="7196584"/>
            <a:ext cx="5222825" cy="772418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1168450" y="7196584"/>
            <a:ext cx="5222825" cy="772418"/>
          </a:xfrm>
          <a:prstGeom prst="rect">
            <a:avLst/>
          </a:prstGeom>
          <a:noFill/>
          <a:ln w="10160">
            <a:solidFill>
              <a:srgbClr val="CFD3D8"/>
            </a:solidFill>
            <a:prstDash val="solid"/>
          </a:ln>
        </p:spPr>
      </p:sp>
      <p:sp>
        <p:nvSpPr>
          <p:cNvPr id="37" name="Text 27"/>
          <p:cNvSpPr txBox="1"/>
          <p:nvPr/>
        </p:nvSpPr>
        <p:spPr>
          <a:xfrm>
            <a:off x="431899" y="7990582"/>
            <a:ext cx="6696075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63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【図12】欠勤・当日の時間変更の一覧 ― </a:t>
            </a:r>
            <a:pPr algn="l" indent="0" marL="0">
              <a:lnSpc>
                <a:spcPts val="980"/>
              </a:lnSpc>
              <a:buNone/>
            </a:pPr>
            <a:r>
              <a:rPr lang="en-US" sz="63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いつ・何時に・どの時間を</a:t>
            </a:r>
            <a:pPr algn="l" indent="0" marL="0">
              <a:lnSpc>
                <a:spcPts val="980"/>
              </a:lnSpc>
              <a:buNone/>
            </a:pPr>
            <a:r>
              <a:rPr lang="en-US" sz="63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変更したかの明細。面談で「なぜこの数字なのか」を示す根拠</a:t>
            </a:r>
            <a:endParaRPr lang="en-US" sz="630" dirty="0"/>
          </a:p>
        </p:txBody>
      </p:sp>
      <p:pic>
        <p:nvPicPr>
          <p:cNvPr id="38" name="Image 8" descr="/home/user/claude-code-practice/tools/attendance_dashboard/docs/img/g_bus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70286" y="8150721"/>
            <a:ext cx="4419302" cy="999530"/>
          </a:xfrm>
          <a:prstGeom prst="rect">
            <a:avLst/>
          </a:prstGeom>
        </p:spPr>
      </p:pic>
      <p:sp>
        <p:nvSpPr>
          <p:cNvPr id="39" name="Shape 28"/>
          <p:cNvSpPr/>
          <p:nvPr/>
        </p:nvSpPr>
        <p:spPr>
          <a:xfrm>
            <a:off x="1570286" y="8150721"/>
            <a:ext cx="4419302" cy="999530"/>
          </a:xfrm>
          <a:prstGeom prst="rect">
            <a:avLst/>
          </a:prstGeom>
          <a:noFill/>
          <a:ln w="10160">
            <a:solidFill>
              <a:srgbClr val="CFD3D8"/>
            </a:solidFill>
            <a:prstDash val="solid"/>
          </a:ln>
        </p:spPr>
      </p:sp>
      <p:sp>
        <p:nvSpPr>
          <p:cNvPr id="40" name="Text 29"/>
          <p:cNvSpPr txBox="1"/>
          <p:nvPr/>
        </p:nvSpPr>
        <p:spPr>
          <a:xfrm>
            <a:off x="431899" y="9171831"/>
            <a:ext cx="6696075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63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【図13】繁忙日の出勤状況 ― </a:t>
            </a:r>
            <a:pPr algn="l" indent="0" marL="0">
              <a:lnSpc>
                <a:spcPts val="980"/>
              </a:lnSpc>
              <a:buNone/>
            </a:pPr>
            <a:r>
              <a:rPr lang="en-US" sz="63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連休ごとの出勤日数</a:t>
            </a:r>
            <a:pPr algn="l" indent="0" marL="0">
              <a:lnSpc>
                <a:spcPts val="980"/>
              </a:lnSpc>
              <a:buNone/>
            </a:pPr>
            <a:r>
              <a:rPr lang="en-US" sz="63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と、</a:t>
            </a:r>
            <a:pPr algn="l" indent="0" marL="0">
              <a:lnSpc>
                <a:spcPts val="980"/>
              </a:lnSpc>
              <a:buNone/>
            </a:pPr>
            <a:r>
              <a:rPr lang="en-US" sz="63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出勤していない繁忙日</a:t>
            </a:r>
            <a:pPr algn="l" indent="0" marL="0">
              <a:lnSpc>
                <a:spcPts val="980"/>
              </a:lnSpc>
              <a:buNone/>
            </a:pPr>
            <a:r>
              <a:rPr lang="en-US" sz="63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の日付。緑は</a:t>
            </a:r>
            <a:pPr algn="l" indent="0" marL="0">
              <a:lnSpc>
                <a:spcPts val="980"/>
              </a:lnSpc>
              <a:buNone/>
            </a:pPr>
            <a:r>
              <a:rPr lang="en-US" sz="63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自分から手を挙げた応募</a:t>
            </a:r>
            <a:endParaRPr lang="en-US" sz="630" dirty="0"/>
          </a:p>
        </p:txBody>
      </p:sp>
      <p:sp>
        <p:nvSpPr>
          <p:cNvPr id="41" name="Shape 30"/>
          <p:cNvSpPr/>
          <p:nvPr/>
        </p:nvSpPr>
        <p:spPr>
          <a:xfrm>
            <a:off x="431899" y="9349978"/>
            <a:ext cx="3258145" cy="1237952"/>
          </a:xfrm>
          <a:prstGeom prst="rect">
            <a:avLst/>
          </a:prstGeom>
          <a:solidFill>
            <a:srgbClr val="FFFFFF"/>
          </a:solidFill>
          <a:ln w="10160">
            <a:solidFill>
              <a:srgbClr val="1F3A5F"/>
            </a:solidFill>
            <a:prstDash val="solid"/>
          </a:ln>
        </p:spPr>
      </p:sp>
      <p:sp>
        <p:nvSpPr>
          <p:cNvPr id="42" name="Text 31"/>
          <p:cNvSpPr txBox="1"/>
          <p:nvPr/>
        </p:nvSpPr>
        <p:spPr>
          <a:xfrm>
            <a:off x="531316" y="9409807"/>
            <a:ext cx="6596598" cy="1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80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面談での進め方（おすすめ）</a:t>
            </a:r>
            <a:endParaRPr lang="en-US" sz="800" dirty="0"/>
          </a:p>
        </p:txBody>
      </p:sp>
      <p:sp>
        <p:nvSpPr>
          <p:cNvPr id="43" name="Text 32"/>
          <p:cNvSpPr txBox="1"/>
          <p:nvPr/>
        </p:nvSpPr>
        <p:spPr>
          <a:xfrm>
            <a:off x="531316" y="9622482"/>
            <a:ext cx="3242870" cy="7247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</a:t>
            </a:r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まず【図4】の</a:t>
            </a:r>
            <a:pPr algn="l" indent="0" marL="0">
              <a:lnSpc>
                <a:spcPts val="1140"/>
              </a:lnSpc>
              <a:buNone/>
            </a:pPr>
            <a:r>
              <a:rPr lang="en-US" sz="730" b="1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一文サマリー</a:t>
            </a:r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を読み上げる</a:t>
            </a:r>
            <a:endParaRPr lang="en-US" sz="730" dirty="0"/>
          </a:p>
          <a:p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</a:t>
            </a:r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次に【図9】の表で、本人と全体・同所属の時間帯の差を見る</a:t>
            </a:r>
            <a:endParaRPr lang="en-US" sz="730" dirty="0"/>
          </a:p>
          <a:p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</a:t>
            </a:r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気になる点は【図12】の</a:t>
            </a:r>
            <a:pPr algn="l" indent="0" marL="0">
              <a:lnSpc>
                <a:spcPts val="1140"/>
              </a:lnSpc>
              <a:buNone/>
            </a:pPr>
            <a:r>
              <a:rPr lang="en-US" sz="730" b="1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日付と時刻</a:t>
            </a:r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を見ながら事情を聞く</a:t>
            </a:r>
            <a:endParaRPr lang="en-US" sz="730" dirty="0"/>
          </a:p>
          <a:p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</a:t>
            </a:r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繁忙日は【図13】で連休の入り方を示す。出ていない日の理由は本人に聞く</a:t>
            </a:r>
            <a:endParaRPr lang="en-US" sz="730" dirty="0"/>
          </a:p>
        </p:txBody>
      </p:sp>
      <p:sp>
        <p:nvSpPr>
          <p:cNvPr id="44" name="Shape 33"/>
          <p:cNvSpPr/>
          <p:nvPr/>
        </p:nvSpPr>
        <p:spPr>
          <a:xfrm>
            <a:off x="3869978" y="9349978"/>
            <a:ext cx="3258145" cy="1237952"/>
          </a:xfrm>
          <a:prstGeom prst="rect">
            <a:avLst/>
          </a:prstGeom>
          <a:solidFill>
            <a:srgbClr val="F3F5F8"/>
          </a:solidFill>
          <a:ln w="10160">
            <a:solidFill>
              <a:srgbClr val="7D8794"/>
            </a:solidFill>
            <a:prstDash val="solid"/>
          </a:ln>
        </p:spPr>
      </p:sp>
      <p:sp>
        <p:nvSpPr>
          <p:cNvPr id="45" name="Text 34"/>
          <p:cNvSpPr txBox="1"/>
          <p:nvPr/>
        </p:nvSpPr>
        <p:spPr>
          <a:xfrm>
            <a:off x="3969395" y="9409807"/>
            <a:ext cx="3158520" cy="1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800" b="1" dirty="0">
                <a:solidFill>
                  <a:srgbClr val="1F3A5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必ず守ること</a:t>
            </a:r>
            <a:endParaRPr lang="en-US" sz="800" dirty="0"/>
          </a:p>
        </p:txBody>
      </p:sp>
      <p:sp>
        <p:nvSpPr>
          <p:cNvPr id="46" name="Text 35"/>
          <p:cNvSpPr txBox="1"/>
          <p:nvPr/>
        </p:nvSpPr>
        <p:spPr>
          <a:xfrm>
            <a:off x="3969395" y="9622482"/>
            <a:ext cx="3158520" cy="869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</a:t>
            </a:r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出る数字は</a:t>
            </a:r>
            <a:pPr algn="l" indent="0" marL="0">
              <a:lnSpc>
                <a:spcPts val="1140"/>
              </a:lnSpc>
              <a:buNone/>
            </a:pPr>
            <a:r>
              <a:rPr lang="en-US" sz="730" b="1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シフト上の記録</a:t>
            </a:r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。欠勤や出勤していない理由は分からないので、必ず本人に確認したうえで使う</a:t>
            </a:r>
            <a:endParaRPr lang="en-US" sz="730" dirty="0"/>
          </a:p>
          <a:p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</a:t>
            </a:r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黄色セル（設定）と CSV_1〜6 以外は編集しない。非表示シートは表示しない</a:t>
            </a:r>
            <a:endParaRPr lang="en-US" sz="730" dirty="0"/>
          </a:p>
          <a:p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</a:t>
            </a:r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貼り替えは全選択→Delete してから。1ヶ月6,000行まで</a:t>
            </a:r>
            <a:endParaRPr lang="en-US" sz="730" dirty="0"/>
          </a:p>
          <a:p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</a:t>
            </a:r>
            <a:pPr algn="l" indent="0" marL="0">
              <a:lnSpc>
                <a:spcPts val="1140"/>
              </a:lnSpc>
              <a:buNone/>
            </a:pPr>
            <a:r>
              <a:rPr lang="en-US" sz="730" dirty="0">
                <a:solidFill>
                  <a:srgbClr val="2222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個人の勤務情報です。印刷物・PDFの取り扱いに注意</a:t>
            </a:r>
            <a:endParaRPr lang="en-US" sz="7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勤務実績ダッシュボード 運用ガイド</dc:title>
  <dc:subject>PptxGenJS Presentation</dc:subject>
  <dc:creator>笹川 晴央</dc:creator>
  <cp:lastModifiedBy>笹川 晴央</cp:lastModifiedBy>
  <cp:revision>1</cp:revision>
  <dcterms:created xsi:type="dcterms:W3CDTF">2026-09-28T14:31:59Z</dcterms:created>
  <dcterms:modified xsi:type="dcterms:W3CDTF">2026-09-28T14:31:59Z</dcterms:modified>
</cp:coreProperties>
</file>