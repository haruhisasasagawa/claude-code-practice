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59873" cy="10691961"/>
  <p:notesSz cx="10691961" cy="75598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873" cy="816173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2000" y="324000"/>
            <a:ext cx="6695915" cy="27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勤務実績ダッシュボード</a:t>
            </a:r>
            <a:pPr algn="l" indent="0" marL="0">
              <a:lnSpc>
                <a:spcPts val="218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pPr algn="l" indent="0" marL="0">
              <a:lnSpc>
                <a:spcPts val="21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初回セットアップ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816173"/>
            <a:ext cx="7559873" cy="288727"/>
          </a:xfrm>
          <a:prstGeom prst="rect">
            <a:avLst/>
          </a:prstGeom>
          <a:solidFill>
            <a:srgbClr val="6B6F7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31959" y="888173"/>
            <a:ext cx="6695915" cy="14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ＴＯＨＯシネマズ新宿 副支配人 笹川 晴央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431899" y="1428750"/>
            <a:ext cx="6696075" cy="3746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1959" y="1536750"/>
            <a:ext cx="6695956" cy="15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まずこのガイドで初回セットアップ（1回だけ） → ② 完了後は別紙「運用ガイド」へ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31899" y="1911251"/>
            <a:ext cx="6696075" cy="488752"/>
          </a:xfrm>
          <a:prstGeom prst="rect">
            <a:avLst/>
          </a:prstGeom>
          <a:solidFill>
            <a:srgbClr val="E8EDF3"/>
          </a:solidFill>
          <a:ln w="10160">
            <a:solidFill>
              <a:srgbClr val="C8D2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424" y="2010776"/>
            <a:ext cx="6542491" cy="289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所要10〜15分。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原本（テンプレート）と、新宿の設定・8月データが入った見本を本文に添付します。各劇場は必ず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原本をコピー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し、自劇場用にセットアップしてご利用ください。マクロは使っていません（Excel 2016以降／Microsoft 365）。</a:t>
            </a:r>
            <a:endParaRPr lang="en-US" sz="730" dirty="0"/>
          </a:p>
        </p:txBody>
      </p:sp>
      <p:sp>
        <p:nvSpPr>
          <p:cNvPr id="10" name="Text 8"/>
          <p:cNvSpPr txBox="1"/>
          <p:nvPr/>
        </p:nvSpPr>
        <p:spPr>
          <a:xfrm>
            <a:off x="431899" y="2543919"/>
            <a:ext cx="6696075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 </a:t>
            </a:r>
            <a:pPr algn="l" indent="0" marL="0">
              <a:lnSpc>
                <a:spcPts val="141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上から順に1回だけ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431899" y="2850207"/>
            <a:ext cx="590848" cy="170855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8574" y="2859732"/>
            <a:ext cx="662934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7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SETUP 1</a:t>
            </a:r>
            <a:endParaRPr lang="en-US" sz="770" dirty="0"/>
          </a:p>
        </p:txBody>
      </p:sp>
      <p:sp>
        <p:nvSpPr>
          <p:cNvPr id="13" name="Text 11"/>
          <p:cNvSpPr txBox="1"/>
          <p:nvPr/>
        </p:nvSpPr>
        <p:spPr>
          <a:xfrm>
            <a:off x="1098947" y="2849314"/>
            <a:ext cx="6028968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7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原本をコピーして劇場名を入れる</a:t>
            </a:r>
            <a:pPr algn="l" indent="0" marL="0">
              <a:lnSpc>
                <a:spcPts val="136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pPr algn="l" indent="0" marL="0">
              <a:lnSpc>
                <a:spcPts val="136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「設定」B1セル</a:t>
            </a:r>
            <a:endParaRPr lang="en-US" sz="870" dirty="0"/>
          </a:p>
        </p:txBody>
      </p:sp>
      <p:sp>
        <p:nvSpPr>
          <p:cNvPr id="14" name="Text 12"/>
          <p:cNvSpPr txBox="1"/>
          <p:nvPr/>
        </p:nvSpPr>
        <p:spPr>
          <a:xfrm>
            <a:off x="431899" y="3075831"/>
            <a:ext cx="6696075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「勤務実績ダッシュボード_◯◯.xlsx」のように劇場名を付けて保存し、「設定」B1（黄色セル）に劇場名を入力します。ダッシュボードの見出しに出ます。</a:t>
            </a:r>
            <a:endParaRPr lang="en-US" sz="730" dirty="0"/>
          </a:p>
        </p:txBody>
      </p:sp>
      <p:sp>
        <p:nvSpPr>
          <p:cNvPr id="15" name="Text 13"/>
          <p:cNvSpPr txBox="1"/>
          <p:nvPr/>
        </p:nvSpPr>
        <p:spPr>
          <a:xfrm>
            <a:off x="431899" y="3256657"/>
            <a:ext cx="6696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変更してよいのは黄色セルと CSV_1〜6 だけ。非表示の計算用シートは表示・編集しないでください。ダッシュボードは誤操作防止のため保護しています（パスワードなし）。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1899" y="3659684"/>
            <a:ext cx="590848" cy="170855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574" y="3669209"/>
            <a:ext cx="662934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7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SETUP 2</a:t>
            </a:r>
            <a:endParaRPr lang="en-US" sz="770" dirty="0"/>
          </a:p>
        </p:txBody>
      </p:sp>
      <p:sp>
        <p:nvSpPr>
          <p:cNvPr id="18" name="Text 16"/>
          <p:cNvSpPr txBox="1"/>
          <p:nvPr/>
        </p:nvSpPr>
        <p:spPr>
          <a:xfrm>
            <a:off x="1098947" y="3658791"/>
            <a:ext cx="6028968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7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使うCSVの出力条件を確認する</a:t>
            </a:r>
            <a:endParaRPr lang="en-US" sz="870" dirty="0"/>
          </a:p>
        </p:txBody>
      </p:sp>
      <p:sp>
        <p:nvSpPr>
          <p:cNvPr id="19" name="Text 17"/>
          <p:cNvSpPr txBox="1"/>
          <p:nvPr/>
        </p:nvSpPr>
        <p:spPr>
          <a:xfrm>
            <a:off x="431899" y="3885307"/>
            <a:ext cx="669607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使うのは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シェアフルシフトのシフトCSV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1種類だけです（打刻データは使いません）。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期間は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月初〜月末の1ヶ月分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で1本ずつ出力（例：8/1〜8/31）。半年分で6本になります。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ヘッダー行（1行目の列名）を含めて出力し、列名は変えないでください。列の順番は変わっても動きます。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1ヶ月6,000行・半年400名まで。超える場合はご連絡ください。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431899" y="4591943"/>
            <a:ext cx="590848" cy="170855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8574" y="4601468"/>
            <a:ext cx="662934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7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SETUP 3</a:t>
            </a:r>
            <a:endParaRPr lang="en-US" sz="770" dirty="0"/>
          </a:p>
        </p:txBody>
      </p:sp>
      <p:sp>
        <p:nvSpPr>
          <p:cNvPr id="22" name="Text 20"/>
          <p:cNvSpPr txBox="1"/>
          <p:nvPr/>
        </p:nvSpPr>
        <p:spPr>
          <a:xfrm>
            <a:off x="1098947" y="4591050"/>
            <a:ext cx="6028968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7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職種・所属・祝日を自劇場に合わせる</a:t>
            </a:r>
            <a:pPr algn="l" indent="0" marL="0">
              <a:lnSpc>
                <a:spcPts val="136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pPr algn="l" indent="0" marL="0">
              <a:lnSpc>
                <a:spcPts val="136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「設定」A13〜B32／A38〜B57、「祝日・繁忙日」シート</a:t>
            </a:r>
            <a:endParaRPr lang="en-US" sz="870" dirty="0"/>
          </a:p>
        </p:txBody>
      </p:sp>
      <p:sp>
        <p:nvSpPr>
          <p:cNvPr id="23" name="Text 21"/>
          <p:cNvSpPr txBox="1"/>
          <p:nvPr/>
        </p:nvSpPr>
        <p:spPr>
          <a:xfrm>
            <a:off x="431899" y="4817566"/>
            <a:ext cx="6696075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職種の区分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＝CSVのL列「募集シフトの職種」の値（例：01ボックス、02コンセ）。セクション割りに合わせて最大20件。表に無い値は自動で「その他」に。使わない行は空欄のまま。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所属の一覧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＝CSVのR列「応募者の職種」の値。最大20件。所属別集計と「同所属平均」に使います。CSVの値と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完全一致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で入力してください。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祝日・繁忙日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＝土日祝出勤率で使う日付。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土曜・日曜は自動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なので、登録するのは平日の祝日と、出勤してほしい繁忙日だけです。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国民の祝日 2025〜2032年分と、GW・お盆・年末年始は登録済み。地域のイベント日があれば足し、不要な行は削除できます。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CSVを貼ると右のC列に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貼付データでの行数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が出ます。「※ 貼付データに無い値です」は表記違いなので、CSVの値をコピーして入れ直します。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431899" y="5814120"/>
            <a:ext cx="590848" cy="170855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8574" y="5823645"/>
            <a:ext cx="662934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7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SETUP 4</a:t>
            </a:r>
            <a:endParaRPr lang="en-US" sz="770" dirty="0"/>
          </a:p>
        </p:txBody>
      </p:sp>
      <p:sp>
        <p:nvSpPr>
          <p:cNvPr id="26" name="Text 24"/>
          <p:cNvSpPr txBox="1"/>
          <p:nvPr/>
        </p:nvSpPr>
        <p:spPr>
          <a:xfrm>
            <a:off x="1098947" y="5813227"/>
            <a:ext cx="6028968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7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判定とアラートの基準を確認する</a:t>
            </a:r>
            <a:pPr algn="l" indent="0" marL="0">
              <a:lnSpc>
                <a:spcPts val="136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pPr algn="l" indent="0" marL="0">
              <a:lnSpc>
                <a:spcPts val="136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「設定」B3〜B6</a:t>
            </a:r>
            <a:endParaRPr lang="en-US" sz="870" dirty="0"/>
          </a:p>
        </p:txBody>
      </p:sp>
      <p:sp>
        <p:nvSpPr>
          <p:cNvPr id="27" name="Text 25"/>
          <p:cNvSpPr txBox="1"/>
          <p:nvPr/>
        </p:nvSpPr>
        <p:spPr>
          <a:xfrm>
            <a:off x="431899" y="6039743"/>
            <a:ext cx="6696075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総合判定は出勤率だけで決まります。既定は 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◎良好＝95%以上／△注意＝90%以上／✕要改善＝90%未満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、確定シフト日数が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20日未満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の人は判定を出さず「参考値」です。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当欠率のアラート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＝B6（既定 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5%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）。これ以上のスタッフに赤い警告行と赤い塗りが出ます。</a:t>
            </a:r>
            <a:endParaRPr lang="en-US" sz="730" dirty="0"/>
          </a:p>
        </p:txBody>
      </p:sp>
      <p:sp>
        <p:nvSpPr>
          <p:cNvPr id="28" name="Text 26"/>
          <p:cNvSpPr txBox="1"/>
          <p:nvPr/>
        </p:nvSpPr>
        <p:spPr>
          <a:xfrm>
            <a:off x="431899" y="6365528"/>
            <a:ext cx="6696075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試験運用中はエリアで同じ基準に統一してください。途中で変えると劇場間・期間間の比較ができなくなります。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431899" y="6637288"/>
            <a:ext cx="590848" cy="170855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8574" y="6646813"/>
            <a:ext cx="662934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7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SETUP 5</a:t>
            </a:r>
            <a:endParaRPr lang="en-US" sz="770" dirty="0"/>
          </a:p>
        </p:txBody>
      </p:sp>
      <p:sp>
        <p:nvSpPr>
          <p:cNvPr id="31" name="Text 29"/>
          <p:cNvSpPr txBox="1"/>
          <p:nvPr/>
        </p:nvSpPr>
        <p:spPr>
          <a:xfrm>
            <a:off x="1098947" y="6636395"/>
            <a:ext cx="6028968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7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最初の1ヶ月を貼って表示を確認する</a:t>
            </a:r>
            <a:pPr algn="l" indent="0" marL="0">
              <a:lnSpc>
                <a:spcPts val="136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pPr algn="l" indent="0" marL="0">
              <a:lnSpc>
                <a:spcPts val="136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「CSV_1」A1セル</a:t>
            </a:r>
            <a:endParaRPr lang="en-US" sz="870" dirty="0"/>
          </a:p>
        </p:txBody>
      </p:sp>
      <p:sp>
        <p:nvSpPr>
          <p:cNvPr id="32" name="Text 30"/>
          <p:cNvSpPr txBox="1"/>
          <p:nvPr/>
        </p:nvSpPr>
        <p:spPr>
          <a:xfrm>
            <a:off x="431899" y="6862911"/>
            <a:ext cx="6696075" cy="43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CSVをExcelで開き、全選択（Ctrl+A）→コピー→「CSV_1」の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A1セル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を選んで貼り付け（ヘッダー行ごと）。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「使い方」シートの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貼付状況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が「2026年8月／OK」と出れば成功です。※印が出たら次ページの表で対処します。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「設定」C列に行数が出ているか（SETUP 3）、「ダッシュボード」でスタッフを選んで数字とグラフが出るかを確認します。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431899" y="7424589"/>
            <a:ext cx="590848" cy="170855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98574" y="7434114"/>
            <a:ext cx="662934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7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SETUP 6</a:t>
            </a:r>
            <a:endParaRPr lang="en-US" sz="770" dirty="0"/>
          </a:p>
        </p:txBody>
      </p:sp>
      <p:sp>
        <p:nvSpPr>
          <p:cNvPr id="35" name="Text 33"/>
          <p:cNvSpPr txBox="1"/>
          <p:nvPr/>
        </p:nvSpPr>
        <p:spPr>
          <a:xfrm>
            <a:off x="1098947" y="7423696"/>
            <a:ext cx="6028968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7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印刷とPDFを確認する（任意）</a:t>
            </a:r>
            <a:endParaRPr lang="en-US" sz="870" dirty="0"/>
          </a:p>
        </p:txBody>
      </p:sp>
      <p:sp>
        <p:nvSpPr>
          <p:cNvPr id="36" name="Text 34"/>
          <p:cNvSpPr txBox="1"/>
          <p:nvPr/>
        </p:nvSpPr>
        <p:spPr>
          <a:xfrm>
            <a:off x="431899" y="7650212"/>
            <a:ext cx="6696075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ダッシュボードはA4縦1枚、全体サマリーはA4横1枚、スタッフ一覧は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名前がある行まで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印刷されます。Ctrl+P で白紙ページが出ないことを一度確認。PDFは ファイル → エクスポート → PDF/XPS。</a:t>
            </a:r>
            <a:endParaRPr lang="en-US" sz="730" dirty="0"/>
          </a:p>
        </p:txBody>
      </p:sp>
      <p:pic>
        <p:nvPicPr>
          <p:cNvPr id="37" name="Image 0" descr="/tmp/claude-0/-home-user-claude-code-practice/80f78731-7e64-5797-98bb-bc409f51a97b/scratchpad/pptx/crop_shot_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99" y="8048030"/>
            <a:ext cx="3240137" cy="1799927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431899" y="8048030"/>
            <a:ext cx="3240137" cy="1799927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31899" y="9876681"/>
            <a:ext cx="6696015" cy="13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【写真1】設定 ― 黄色セルだけ変更。右の行数で表記違いを確認</a:t>
            </a:r>
            <a:endParaRPr lang="en-US" sz="660" dirty="0"/>
          </a:p>
        </p:txBody>
      </p:sp>
      <p:pic>
        <p:nvPicPr>
          <p:cNvPr id="40" name="Image 1" descr="/home/user/claude-code-practice/tools/attendance_dashboard/docs/img/shot_dash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986" y="8048030"/>
            <a:ext cx="3240137" cy="1211312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3887986" y="8048030"/>
            <a:ext cx="3240137" cy="1211312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887986" y="9288066"/>
            <a:ext cx="3240137" cy="13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【写真2】ダッシュボード上部 ― 劇場名・対象期間はここに出る（SETUP 5）</a:t>
            </a:r>
            <a:endParaRPr lang="en-US" sz="660" dirty="0"/>
          </a:p>
        </p:txBody>
      </p:sp>
      <p:sp>
        <p:nvSpPr>
          <p:cNvPr id="43" name="Shape 39"/>
          <p:cNvSpPr/>
          <p:nvPr/>
        </p:nvSpPr>
        <p:spPr>
          <a:xfrm>
            <a:off x="3887986" y="9491067"/>
            <a:ext cx="3240137" cy="778073"/>
          </a:xfrm>
          <a:prstGeom prst="rect">
            <a:avLst/>
          </a:prstGeom>
          <a:solidFill>
            <a:srgbClr val="F3F5F8"/>
          </a:solidFill>
          <a:ln w="10160">
            <a:solidFill>
              <a:srgbClr val="7D8794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005411" y="9565332"/>
            <a:ext cx="3122503" cy="1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ここまで出れば完了</a:t>
            </a:r>
            <a:endParaRPr lang="en-US" sz="800" dirty="0"/>
          </a:p>
        </p:txBody>
      </p:sp>
      <p:sp>
        <p:nvSpPr>
          <p:cNvPr id="45" name="Text 41"/>
          <p:cNvSpPr txBox="1"/>
          <p:nvPr/>
        </p:nvSpPr>
        <p:spPr>
          <a:xfrm>
            <a:off x="4005411" y="9760000"/>
            <a:ext cx="3122503" cy="43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見出しに自劇場名が出ている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貼付状況が「OK」になっている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スタッフを選ぶと数字とグラフが変わる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873" cy="816173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2000" y="324000"/>
            <a:ext cx="6695915" cy="27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表示チェックの見方 と 完了確認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816173"/>
            <a:ext cx="7559873" cy="288727"/>
          </a:xfrm>
          <a:prstGeom prst="rect">
            <a:avLst/>
          </a:prstGeom>
          <a:solidFill>
            <a:srgbClr val="6B6F7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31959" y="888173"/>
            <a:ext cx="6695915" cy="14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ＴＯＨＯシネマズ新宿 副支配人 笹川 晴央</a:t>
            </a:r>
            <a:endParaRPr lang="en-US" sz="730" dirty="0"/>
          </a:p>
        </p:txBody>
      </p:sp>
      <p:sp>
        <p:nvSpPr>
          <p:cNvPr id="6" name="Text 4"/>
          <p:cNvSpPr txBox="1"/>
          <p:nvPr/>
        </p:nvSpPr>
        <p:spPr>
          <a:xfrm>
            <a:off x="431899" y="1428750"/>
            <a:ext cx="6696075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「使い方」の貼付状況 </a:t>
            </a:r>
            <a:pPr algn="l" indent="0" marL="0">
              <a:lnSpc>
                <a:spcPts val="141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貼り付けが正しいかはここで分かる</a:t>
            </a:r>
            <a:endParaRPr lang="en-US" sz="91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899" y="1662113"/>
          <a:ext cx="6696075" cy="914400"/>
        </p:xfrm>
        <a:graphic>
          <a:graphicData uri="http://schemas.openxmlformats.org/drawingml/2006/table">
            <a:tbl>
              <a:tblPr/>
              <a:tblGrid>
                <a:gridCol w="2544366"/>
                <a:gridCol w="1941761"/>
                <a:gridCol w="2209949"/>
              </a:tblGrid>
              <a:tr h="25330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7600" marB="57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意味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7600" marB="57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対処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7600" marB="57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5062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2026年8月 OK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正常。月も想定どおり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そのまま進んでOK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未貼付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そのシートにデータが無い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まだ貼っていなければ問題なし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※ 列名が見つかりません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1行目のヘッダーが無い／違う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A1からヘッダーごと貼り直す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※ 6,000行を超えています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1ヶ月の行数が上限超え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超過分は集計されません。ご連絡を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※ 対象月以外の日付の行が ○行あります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前のデータが残っている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全選択→Delete してから貼り直す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※ 読み取れない値があります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日付や従業員番号が読めない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Excelで開き直して貼り直す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※ CSV_1→CSV_6 が古い月から順に…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月の順番が逆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古い月から順に貼り直す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※ スタッフが半年で400名を超えています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人数が上限超え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超えた分は集計されません。ご連絡を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見出し右上に「※ 貼付データに問題があります」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上のどれかが出ている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「使い方」の貼付状況を確認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31899" y="4357836"/>
            <a:ext cx="6696075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「ダッシュボード」に出る表示</a:t>
            </a:r>
            <a:endParaRPr lang="en-US" sz="91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899" y="4591199"/>
          <a:ext cx="6696075" cy="914400"/>
        </p:xfrm>
        <a:graphic>
          <a:graphicData uri="http://schemas.openxmlformats.org/drawingml/2006/table">
            <a:tbl>
              <a:tblPr/>
              <a:tblGrid>
                <a:gridCol w="2544366"/>
                <a:gridCol w="1941761"/>
                <a:gridCol w="2209949"/>
              </a:tblGrid>
              <a:tr h="25330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場所と表示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7600" marB="57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意味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7600" marB="57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どうするか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7600" marB="57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5062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赤い「⚠ 当日欠勤率 ○% が基準に達しています」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当欠率が設定B6（既定5%）以上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面談で当日欠勤の状況を確認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総合判定が「参考値」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確定シフトが20日未満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異常ではない。出勤率は参考に見る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「—」「－」「該当なし」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データが無い・0日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対応不要（0日とは区別しています）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絞り込み欄の右「一致するスタッフはいません」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その文字を含む名前・番号が無い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文字を短くするか空欄に戻す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タイミング欄の下に赤い「※ シフト日より後に…」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後から編集された休み行がある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その日の実態を確認（欠勤に含めず）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スタッフ欄に「まずCSVを貼り付けてください」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データが無い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SETUP 5 へ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31899" y="6520755"/>
            <a:ext cx="6696075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「設定」「祝日・繁忙日」に出る表示</a:t>
            </a:r>
            <a:endParaRPr lang="en-US" sz="91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899" y="6754118"/>
          <a:ext cx="6696075" cy="914400"/>
        </p:xfrm>
        <a:graphic>
          <a:graphicData uri="http://schemas.openxmlformats.org/drawingml/2006/table">
            <a:tbl>
              <a:tblPr/>
              <a:tblGrid>
                <a:gridCol w="2544366"/>
                <a:gridCol w="1941761"/>
                <a:gridCol w="2209949"/>
              </a:tblGrid>
              <a:tr h="25330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場所と表示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7600" marB="57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意味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7600" marB="57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どうするか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7600" marB="57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50627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設定C列に「※ 貼付データに無い値です」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CSVの値と表記が違う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CSVの値をコピーして入れ直す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設定の下に「※ △注意の基準（B4）は…」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B4 が B3 以上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B4 を B3 より小さくする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38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祝日・繁忙日の登録状況に「※」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その年の祝日が無い など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9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表示の指示どおりに直す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0000" marR="90000" marT="54000" marB="540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D5D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31899" y="7917507"/>
            <a:ext cx="6696075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セットアップ完了チェック</a:t>
            </a:r>
            <a:endParaRPr lang="en-US" sz="910" dirty="0"/>
          </a:p>
        </p:txBody>
      </p:sp>
      <p:sp>
        <p:nvSpPr>
          <p:cNvPr id="13" name="Shape 8"/>
          <p:cNvSpPr/>
          <p:nvPr/>
        </p:nvSpPr>
        <p:spPr>
          <a:xfrm>
            <a:off x="431899" y="8168878"/>
            <a:ext cx="6696075" cy="1031379"/>
          </a:xfrm>
          <a:prstGeom prst="rect">
            <a:avLst/>
          </a:prstGeom>
          <a:solidFill>
            <a:srgbClr val="FFF8EE"/>
          </a:solidFill>
          <a:ln w="10160">
            <a:solidFill>
              <a:srgbClr val="E39A3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49325" y="8271867"/>
            <a:ext cx="6578590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□ 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設定B1 に自劇場の名前を入れた</a:t>
            </a:r>
            <a:endParaRPr lang="en-US" sz="730" dirty="0"/>
          </a:p>
        </p:txBody>
      </p:sp>
      <p:sp>
        <p:nvSpPr>
          <p:cNvPr id="15" name="Text 10"/>
          <p:cNvSpPr txBox="1"/>
          <p:nvPr/>
        </p:nvSpPr>
        <p:spPr>
          <a:xfrm>
            <a:off x="549325" y="8445550"/>
            <a:ext cx="6578590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□ 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設定の職種・所属のC列に「※」が出ていない</a:t>
            </a:r>
            <a:endParaRPr lang="en-US" sz="730" dirty="0"/>
          </a:p>
        </p:txBody>
      </p:sp>
      <p:sp>
        <p:nvSpPr>
          <p:cNvPr id="16" name="Text 11"/>
          <p:cNvSpPr txBox="1"/>
          <p:nvPr/>
        </p:nvSpPr>
        <p:spPr>
          <a:xfrm>
            <a:off x="549325" y="8619232"/>
            <a:ext cx="6578590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□ 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「祝日・繁忙日」の登録状況がすべて「OK」</a:t>
            </a:r>
            <a:endParaRPr lang="en-US" sz="730" dirty="0"/>
          </a:p>
        </p:txBody>
      </p:sp>
      <p:sp>
        <p:nvSpPr>
          <p:cNvPr id="17" name="Text 12"/>
          <p:cNvSpPr txBox="1"/>
          <p:nvPr/>
        </p:nvSpPr>
        <p:spPr>
          <a:xfrm>
            <a:off x="549325" y="8792914"/>
            <a:ext cx="6578590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□ 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判定・当欠率アラートの基準（B3〜B6）をエリアと揃えた</a:t>
            </a:r>
            <a:endParaRPr lang="en-US" sz="730" dirty="0"/>
          </a:p>
        </p:txBody>
      </p:sp>
      <p:sp>
        <p:nvSpPr>
          <p:cNvPr id="18" name="Text 13"/>
          <p:cNvSpPr txBox="1"/>
          <p:nvPr/>
        </p:nvSpPr>
        <p:spPr>
          <a:xfrm>
            <a:off x="549325" y="8966597"/>
            <a:ext cx="6578590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□ 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CSV_1 に貼り、貼付状況が「OK」になっている</a:t>
            </a:r>
            <a:endParaRPr lang="en-US" sz="730" dirty="0"/>
          </a:p>
        </p:txBody>
      </p:sp>
      <p:sp>
        <p:nvSpPr>
          <p:cNvPr id="19" name="Text 14"/>
          <p:cNvSpPr txBox="1"/>
          <p:nvPr/>
        </p:nvSpPr>
        <p:spPr>
          <a:xfrm>
            <a:off x="3923854" y="8243143"/>
            <a:ext cx="3204061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□ 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ダッシュボードで名前を選び、数字とグラフが出る</a:t>
            </a:r>
            <a:endParaRPr lang="en-US" sz="730" dirty="0"/>
          </a:p>
        </p:txBody>
      </p:sp>
      <p:sp>
        <p:nvSpPr>
          <p:cNvPr id="20" name="Text 15"/>
          <p:cNvSpPr txBox="1"/>
          <p:nvPr/>
        </p:nvSpPr>
        <p:spPr>
          <a:xfrm>
            <a:off x="3923854" y="8416826"/>
            <a:ext cx="3204061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□ 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見出し右上に「※」の警告が出ていない</a:t>
            </a:r>
            <a:endParaRPr lang="en-US" sz="730" dirty="0"/>
          </a:p>
        </p:txBody>
      </p:sp>
      <p:sp>
        <p:nvSpPr>
          <p:cNvPr id="21" name="Text 16"/>
          <p:cNvSpPr txBox="1"/>
          <p:nvPr/>
        </p:nvSpPr>
        <p:spPr>
          <a:xfrm>
            <a:off x="3923854" y="8590508"/>
            <a:ext cx="3204061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□ 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ダッシュボードの印刷プレビューがA4縦1枚</a:t>
            </a:r>
            <a:endParaRPr lang="en-US" sz="730" dirty="0"/>
          </a:p>
        </p:txBody>
      </p:sp>
      <p:sp>
        <p:nvSpPr>
          <p:cNvPr id="22" name="Text 17"/>
          <p:cNvSpPr txBox="1"/>
          <p:nvPr/>
        </p:nvSpPr>
        <p:spPr>
          <a:xfrm>
            <a:off x="3923854" y="8764191"/>
            <a:ext cx="3204061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□ 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スタッフ一覧の印刷で白紙ページが出ない</a:t>
            </a:r>
            <a:endParaRPr lang="en-US" sz="730" dirty="0"/>
          </a:p>
        </p:txBody>
      </p:sp>
      <p:sp>
        <p:nvSpPr>
          <p:cNvPr id="23" name="Text 18"/>
          <p:cNvSpPr txBox="1"/>
          <p:nvPr/>
        </p:nvSpPr>
        <p:spPr>
          <a:xfrm>
            <a:off x="3923854" y="8937873"/>
            <a:ext cx="3204061" cy="1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□ 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ファイル名に劇場名を付けて保存した</a:t>
            </a:r>
            <a:endParaRPr lang="en-US" sz="730" dirty="0"/>
          </a:p>
        </p:txBody>
      </p:sp>
      <p:sp>
        <p:nvSpPr>
          <p:cNvPr id="24" name="Shape 19"/>
          <p:cNvSpPr/>
          <p:nvPr/>
        </p:nvSpPr>
        <p:spPr>
          <a:xfrm>
            <a:off x="431899" y="9272141"/>
            <a:ext cx="6696075" cy="651123"/>
          </a:xfrm>
          <a:prstGeom prst="rect">
            <a:avLst/>
          </a:prstGeom>
          <a:solidFill>
            <a:srgbClr val="F3F5F8"/>
          </a:solidFill>
          <a:ln w="10160">
            <a:solidFill>
              <a:srgbClr val="7D8794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49325" y="9346406"/>
            <a:ext cx="6578590" cy="1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困ったときは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549325" y="9559082"/>
            <a:ext cx="6578590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数が合わない → 運用ガイド「数が合わないと感じたら」／警告表示 → このページの表／土日祝出勤率が低い → 「祝日・繁忙日」の登録状況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解決しないとき・分かりにくい表示があったとき → エリアディスカッションへ投稿（画面の写真があると原因特定が早くなります）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勤務実績ダッシュボード 初回セットアップガイド</dc:title>
  <dc:subject>PptxGenJS Presentation</dc:subject>
  <dc:creator>笹川 晴央</dc:creator>
  <cp:lastModifiedBy>笹川 晴央</cp:lastModifiedBy>
  <cp:revision>1</cp:revision>
  <dcterms:created xsi:type="dcterms:W3CDTF">2026-10-06T11:05:43Z</dcterms:created>
  <dcterms:modified xsi:type="dcterms:W3CDTF">2026-10-06T11:05:43Z</dcterms:modified>
</cp:coreProperties>
</file>